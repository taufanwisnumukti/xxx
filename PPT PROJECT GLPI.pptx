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2" autoAdjust="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78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jpe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jfif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59930"/>
            <a:ext cx="3238500" cy="5476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125" y="959930"/>
            <a:ext cx="7667625" cy="5505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774852"/>
            <a:ext cx="2743200" cy="504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524625"/>
            <a:ext cx="112395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6987" y="447675"/>
            <a:ext cx="1528762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6610350"/>
            <a:ext cx="196215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94A3B8"/>
                </a:solidFill>
                <a:latin typeface="Inter"/>
              </a:rPr>
              <a:t>PT Feng Tay Indonesia - IT</a:t>
            </a:r>
            <a:r>
              <a:rPr lang="en-US" sz="825" b="0" i="0" u="none" dirty="0">
                <a:solidFill>
                  <a:srgbClr val="94A3B8"/>
                </a:solidFill>
                <a:latin typeface="Inter"/>
              </a:rPr>
              <a:t>PCN</a:t>
            </a:r>
            <a:endParaRPr sz="82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91800" y="6610350"/>
            <a:ext cx="1123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Halaman Cover / Profil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182" y="500429"/>
            <a:ext cx="157162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0360" y="3673822"/>
            <a:ext cx="223027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oppins"/>
              </a:rPr>
              <a:t>Taufan Wisnu Mukti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8762" y="4026247"/>
            <a:ext cx="113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38BDF8"/>
                </a:solidFill>
                <a:latin typeface="Inter SemiBold"/>
              </a:rPr>
              <a:t>ITPCN - Engineer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0662" y="4327177"/>
            <a:ext cx="1209675" cy="2381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7557" y="4393852"/>
            <a:ext cx="133350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6343" y="4936777"/>
            <a:ext cx="173831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FFFFFF"/>
                </a:solidFill>
                <a:latin typeface="Inter"/>
              </a:rPr>
              <a:t>PT FENG TAY INDONES</a:t>
            </a:r>
            <a:r>
              <a:rPr lang="en-ID" sz="1050" b="1" i="0" u="none" dirty="0">
                <a:solidFill>
                  <a:srgbClr val="FFFFFF"/>
                </a:solidFill>
                <a:latin typeface="Inter"/>
              </a:rPr>
              <a:t>I</a:t>
            </a:r>
            <a:r>
              <a:rPr sz="1050" b="1" i="0" u="none" dirty="0">
                <a:solidFill>
                  <a:srgbClr val="FFFFFF"/>
                </a:solidFill>
                <a:latin typeface="Inter"/>
              </a:rPr>
              <a:t>A</a:t>
            </a:r>
            <a:r>
              <a:rPr lang="en-US" sz="1050" b="1" i="0" u="none" dirty="0">
                <a:solidFill>
                  <a:srgbClr val="FFFFFF"/>
                </a:solidFill>
                <a:latin typeface="Inter"/>
              </a:rPr>
              <a:t> ENTERPRISES</a:t>
            </a:r>
            <a:endParaRPr sz="105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4847" y="3388366"/>
            <a:ext cx="7230903" cy="4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3200" b="1" i="0" u="none" dirty="0">
                <a:solidFill>
                  <a:srgbClr val="0F172A"/>
                </a:solidFill>
                <a:latin typeface="Poppins"/>
              </a:rPr>
              <a:t>PROJECT &amp; KAIZEN IMPROVEMENT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1050" y="1433512"/>
            <a:ext cx="142875" cy="123825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476250" y="752475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E7F0423-BC6E-DDCB-BF00-6F3271207D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4803" y="2053190"/>
            <a:ext cx="1207434" cy="15740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09113"/>
            <a:ext cx="12192000" cy="1116711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005035"/>
            <a:ext cx="11239500" cy="21246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66466"/>
            <a:ext cx="11239500" cy="3231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71618"/>
            <a:ext cx="3527226" cy="26827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5876" y="971550"/>
            <a:ext cx="3880098" cy="28628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935" y="606288"/>
            <a:ext cx="3527375" cy="286285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0" y="6234573"/>
            <a:ext cx="13144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801" y="1533525"/>
            <a:ext cx="1730424" cy="213895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476" y="1533525"/>
            <a:ext cx="1730573" cy="21389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6610350"/>
            <a:ext cx="227647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D" sz="825" dirty="0">
                <a:solidFill>
                  <a:srgbClr val="94A3B8"/>
                </a:solidFill>
                <a:latin typeface="Inter"/>
              </a:rPr>
              <a:t>PT Feng Tay Indonesia - ITPCN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25125" y="6610350"/>
            <a:ext cx="119062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94A3B8"/>
                </a:solidFill>
                <a:latin typeface="Inter"/>
              </a:rPr>
              <a:t>Halaman 1 </a:t>
            </a:r>
            <a:r>
              <a:rPr sz="825" b="0" i="0" u="none" dirty="0" err="1">
                <a:solidFill>
                  <a:srgbClr val="94A3B8"/>
                </a:solidFill>
                <a:latin typeface="Inter"/>
              </a:rPr>
              <a:t>dari</a:t>
            </a:r>
            <a:r>
              <a:rPr sz="825" b="0" i="0" u="none" dirty="0">
                <a:solidFill>
                  <a:srgbClr val="94A3B8"/>
                </a:solidFill>
                <a:latin typeface="Inter"/>
              </a:rPr>
              <a:t> 2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7850" y="504825"/>
            <a:ext cx="147637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2950" y="6272673"/>
            <a:ext cx="13525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 SemiBold"/>
              </a:rPr>
              <a:t>Implementation Status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841" y="4233048"/>
            <a:ext cx="90487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1290" y="6307841"/>
            <a:ext cx="1047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600" y="1223962"/>
            <a:ext cx="128587" cy="1238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9625" y="1533525"/>
            <a:ext cx="3031926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Permintaan support IT masih manual via WA, telepon, atau lisan.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1908571"/>
            <a:ext cx="3031926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 dirty="0">
                <a:solidFill>
                  <a:srgbClr val="334155"/>
                </a:solidFill>
                <a:latin typeface="Inter"/>
              </a:rPr>
              <a:t>Belum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ada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sistem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terpusat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untuk tracking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tiket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, SLA,</a:t>
            </a:r>
            <a:r>
              <a:rPr lang="en-US"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900" b="0" i="0" u="none" dirty="0" err="1">
                <a:solidFill>
                  <a:srgbClr val="334155"/>
                </a:solidFill>
                <a:latin typeface="Inter"/>
              </a:rPr>
              <a:t>riwayat</a:t>
            </a:r>
            <a:r>
              <a:rPr lang="en-US"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900" b="0" i="0" u="none" dirty="0" err="1">
                <a:solidFill>
                  <a:srgbClr val="334155"/>
                </a:solidFill>
                <a:latin typeface="Inter"/>
              </a:rPr>
              <a:t>kerusakan</a:t>
            </a:r>
            <a:r>
              <a:rPr lang="en-US" sz="900" b="0" i="0" u="none" dirty="0">
                <a:solidFill>
                  <a:srgbClr val="334155"/>
                </a:solidFill>
                <a:latin typeface="Inter"/>
              </a:rPr>
              <a:t> assets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&amp;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riwayat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pengerjaan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2345163"/>
            <a:ext cx="3031926" cy="299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900" dirty="0">
                <a:solidFill>
                  <a:srgbClr val="334155"/>
                </a:solidFill>
                <a:latin typeface="Inter"/>
              </a:rPr>
              <a:t>Belum </a:t>
            </a:r>
            <a:r>
              <a:rPr lang="en-US" sz="900" dirty="0" err="1">
                <a:solidFill>
                  <a:srgbClr val="334155"/>
                </a:solidFill>
                <a:latin typeface="Inter"/>
              </a:rPr>
              <a:t>tersedianya</a:t>
            </a:r>
            <a:r>
              <a:rPr lang="en-US" sz="900" dirty="0">
                <a:solidFill>
                  <a:srgbClr val="334155"/>
                </a:solidFill>
                <a:latin typeface="Inter"/>
              </a:rPr>
              <a:t> analytics dan </a:t>
            </a:r>
            <a:r>
              <a:rPr lang="en-US" sz="900" dirty="0" err="1">
                <a:solidFill>
                  <a:srgbClr val="334155"/>
                </a:solidFill>
                <a:latin typeface="Inter"/>
              </a:rPr>
              <a:t>pelaporan</a:t>
            </a:r>
            <a:r>
              <a:rPr lang="en-US" sz="900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Inter"/>
              </a:rPr>
              <a:t>resmi</a:t>
            </a:r>
            <a:r>
              <a:rPr lang="en-US" sz="900" dirty="0">
                <a:solidFill>
                  <a:srgbClr val="334155"/>
                </a:solidFill>
                <a:latin typeface="Inter"/>
              </a:rPr>
              <a:t> untuk </a:t>
            </a:r>
            <a:r>
              <a:rPr lang="en-US" sz="900" dirty="0" err="1">
                <a:solidFill>
                  <a:srgbClr val="334155"/>
                </a:solidFill>
                <a:latin typeface="Inter"/>
              </a:rPr>
              <a:t>mengukur</a:t>
            </a:r>
            <a:r>
              <a:rPr lang="en-US" sz="900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Inter"/>
              </a:rPr>
              <a:t>performa</a:t>
            </a:r>
            <a:r>
              <a:rPr lang="en-US" sz="900" dirty="0">
                <a:solidFill>
                  <a:srgbClr val="334155"/>
                </a:solidFill>
                <a:latin typeface="Inter"/>
              </a:rPr>
              <a:t> helpdesk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445" y="2680967"/>
            <a:ext cx="3031926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3226" y="1223962"/>
            <a:ext cx="128587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5724" y="1223962"/>
            <a:ext cx="128587" cy="1238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21749" y="1533525"/>
            <a:ext cx="3032075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>
                <a:solidFill>
                  <a:srgbClr val="334155"/>
                </a:solidFill>
                <a:latin typeface="Inter"/>
              </a:rPr>
              <a:t>Deployment GLPI Server:</a:t>
            </a:r>
            <a:r>
              <a:rPr sz="900" b="0" i="0" u="none">
                <a:solidFill>
                  <a:srgbClr val="334155"/>
                </a:solidFill>
                <a:latin typeface="Inter"/>
              </a:rPr>
              <a:t> Helpdesk &amp; Asset Management.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1749" y="1747588"/>
            <a:ext cx="3032075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>
                <a:solidFill>
                  <a:srgbClr val="334155"/>
                </a:solidFill>
                <a:latin typeface="Inter"/>
              </a:rPr>
              <a:t>Integrasi LDAP:</a:t>
            </a:r>
            <a:r>
              <a:rPr sz="900" b="0" i="0" u="none">
                <a:solidFill>
                  <a:srgbClr val="334155"/>
                </a:solidFill>
                <a:latin typeface="Inter"/>
              </a:rPr>
              <a:t> Login SSO via akun Windows/Domain.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3616" y="2155188"/>
            <a:ext cx="3032075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en-ID" sz="900" b="1" i="0" u="none" dirty="0">
                <a:solidFill>
                  <a:srgbClr val="334155"/>
                </a:solidFill>
                <a:latin typeface="Inter"/>
              </a:rPr>
              <a:t>Template </a:t>
            </a:r>
            <a:r>
              <a:rPr lang="en-ID" sz="900" b="1" i="0" u="none" dirty="0" err="1">
                <a:solidFill>
                  <a:srgbClr val="334155"/>
                </a:solidFill>
                <a:latin typeface="Inter"/>
              </a:rPr>
              <a:t>Tiket</a:t>
            </a:r>
            <a:r>
              <a:rPr lang="en-ID" sz="900" b="1" i="0" u="none" dirty="0">
                <a:solidFill>
                  <a:srgbClr val="334155"/>
                </a:solidFill>
                <a:latin typeface="Inter"/>
              </a:rPr>
              <a:t> Custom: </a:t>
            </a:r>
            <a:r>
              <a:rPr lang="en-ID" sz="900" i="0" u="none" dirty="0" err="1">
                <a:solidFill>
                  <a:srgbClr val="334155"/>
                </a:solidFill>
                <a:latin typeface="Inter"/>
              </a:rPr>
              <a:t>Formulir</a:t>
            </a:r>
            <a:r>
              <a:rPr lang="en-ID" sz="9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ID" sz="900" i="0" u="none" dirty="0" err="1">
                <a:solidFill>
                  <a:srgbClr val="334155"/>
                </a:solidFill>
                <a:latin typeface="Inter"/>
              </a:rPr>
              <a:t>pembuatan</a:t>
            </a:r>
            <a:r>
              <a:rPr lang="en-ID" sz="9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ID" sz="900" i="0" u="none" dirty="0" err="1">
                <a:solidFill>
                  <a:srgbClr val="334155"/>
                </a:solidFill>
                <a:latin typeface="Inter"/>
              </a:rPr>
              <a:t>tiket</a:t>
            </a:r>
            <a:r>
              <a:rPr lang="en-ID" sz="900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1749" y="1944250"/>
            <a:ext cx="3032075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 dirty="0">
                <a:solidFill>
                  <a:srgbClr val="334155"/>
                </a:solidFill>
                <a:latin typeface="Inter"/>
              </a:rPr>
              <a:t>Auto-Assign: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Tiket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otomatis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terbagi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ke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PIC area.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1749" y="2590114"/>
            <a:ext cx="3032075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 dirty="0">
                <a:solidFill>
                  <a:srgbClr val="334155"/>
                </a:solidFill>
                <a:latin typeface="Inter"/>
              </a:rPr>
              <a:t>CSAT Survey: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Evaluasi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tingkat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kepuasan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layanan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4624982"/>
            <a:ext cx="14287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7225" y="4624982"/>
            <a:ext cx="18097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43875" y="4624982"/>
            <a:ext cx="1619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0575" y="5406330"/>
            <a:ext cx="16192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67225" y="5406330"/>
            <a:ext cx="1428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43875" y="5406330"/>
            <a:ext cx="123825" cy="14287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422576" y="2847975"/>
            <a:ext cx="1520874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7"/>
              </a:lnSpc>
            </a:pPr>
            <a:r>
              <a:rPr sz="1012" b="0" i="0" u="none">
                <a:solidFill>
                  <a:srgbClr val="475569"/>
                </a:solidFill>
                <a:latin typeface="Inter Medium"/>
              </a:rPr>
              <a:t>Permintaan support manual via email, telepon &amp; lisan (tak terpusat).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8251" y="2847975"/>
            <a:ext cx="1521023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7"/>
              </a:lnSpc>
            </a:pPr>
            <a:r>
              <a:rPr lang="sv-SE" sz="1012" b="0" i="0" u="none" dirty="0">
                <a:solidFill>
                  <a:srgbClr val="475569"/>
                </a:solidFill>
                <a:latin typeface="Inter Medium"/>
              </a:rPr>
              <a:t>Penanganan tiket otomatis, SLA tracking, &amp; inventaris aset terintegrasi</a:t>
            </a:r>
            <a:endParaRPr sz="1012" b="0" i="0" u="none" dirty="0">
              <a:solidFill>
                <a:srgbClr val="475569"/>
              </a:solidFill>
              <a:latin typeface="Inter Medium"/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0299" y="1571892"/>
            <a:ext cx="57150" cy="857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0299" y="1779516"/>
            <a:ext cx="57150" cy="857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0299" y="2180677"/>
            <a:ext cx="57150" cy="857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0299" y="1982617"/>
            <a:ext cx="57150" cy="857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0299" y="2609164"/>
            <a:ext cx="57150" cy="8572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8700" y="4605932"/>
            <a:ext cx="3200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Inter"/>
              </a:rPr>
              <a:t>Centralized Service Desk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" y="4767857"/>
            <a:ext cx="304800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0" i="0" u="none">
                <a:solidFill>
                  <a:srgbClr val="64748B"/>
                </a:solidFill>
                <a:latin typeface="Inter"/>
              </a:rPr>
              <a:t>Seluruh keluhan &amp; request IT tercatat rapi secara real-time dalam satu sistem.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3450" y="4605932"/>
            <a:ext cx="316039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Automated Notification &amp; SLA Alert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3450" y="4767857"/>
            <a:ext cx="300990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0" i="0" u="none">
                <a:solidFill>
                  <a:srgbClr val="64748B"/>
                </a:solidFill>
                <a:latin typeface="Inter"/>
              </a:rPr>
              <a:t>Email otomatis ke teknisi &amp; user saat tiket dibuat / pergerakan status.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1050" y="4605932"/>
            <a:ext cx="318039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Transparansi Layanan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01050" y="4767857"/>
            <a:ext cx="302895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0" i="0" u="none" dirty="0">
                <a:solidFill>
                  <a:srgbClr val="64748B"/>
                </a:solidFill>
                <a:latin typeface="Inter"/>
              </a:rPr>
              <a:t>User </a:t>
            </a:r>
            <a:r>
              <a:rPr sz="862" b="0" i="0" u="none" dirty="0" err="1">
                <a:solidFill>
                  <a:srgbClr val="64748B"/>
                </a:solidFill>
                <a:latin typeface="Inter"/>
              </a:rPr>
              <a:t>dapat</a:t>
            </a:r>
            <a:r>
              <a:rPr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862" b="0" i="0" u="none" dirty="0" err="1">
                <a:solidFill>
                  <a:srgbClr val="64748B"/>
                </a:solidFill>
                <a:latin typeface="Inter"/>
              </a:rPr>
              <a:t>memantau</a:t>
            </a:r>
            <a:r>
              <a:rPr sz="862" b="0" i="0" u="none" dirty="0">
                <a:solidFill>
                  <a:srgbClr val="64748B"/>
                </a:solidFill>
                <a:latin typeface="Inter"/>
              </a:rPr>
              <a:t> status </a:t>
            </a:r>
            <a:r>
              <a:rPr sz="862" b="0" i="0" u="none" dirty="0" err="1">
                <a:solidFill>
                  <a:srgbClr val="64748B"/>
                </a:solidFill>
                <a:latin typeface="Inter"/>
              </a:rPr>
              <a:t>pengerjaan</a:t>
            </a:r>
            <a:r>
              <a:rPr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862" b="0" i="0" u="none" dirty="0" err="1">
                <a:solidFill>
                  <a:srgbClr val="64748B"/>
                </a:solidFill>
                <a:latin typeface="Inter"/>
              </a:rPr>
              <a:t>tiket</a:t>
            </a:r>
            <a:r>
              <a:rPr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862" b="0" i="0" u="none" dirty="0" err="1">
                <a:solidFill>
                  <a:srgbClr val="64748B"/>
                </a:solidFill>
                <a:latin typeface="Inter"/>
              </a:rPr>
              <a:t>secara</a:t>
            </a:r>
            <a:r>
              <a:rPr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862" b="0" i="0" u="none" dirty="0" err="1">
                <a:solidFill>
                  <a:srgbClr val="64748B"/>
                </a:solidFill>
                <a:latin typeface="Inter"/>
              </a:rPr>
              <a:t>mandiri</a:t>
            </a:r>
            <a:r>
              <a:rPr sz="862" b="0" i="0" u="none" dirty="0">
                <a:solidFill>
                  <a:srgbClr val="64748B"/>
                </a:solidFill>
                <a:latin typeface="Inter"/>
              </a:rPr>
              <a:t> &amp; real-time.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5387280"/>
            <a:ext cx="318039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Asset Problem Tracking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5549205"/>
            <a:ext cx="302895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0" i="0" u="none">
                <a:solidFill>
                  <a:srgbClr val="64748B"/>
                </a:solidFill>
                <a:latin typeface="Inter"/>
              </a:rPr>
              <a:t>Kerusakan berulang perangkat cepat terdeteksi untuk evaluasi replacement.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5350" y="5387280"/>
            <a:ext cx="3200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Real-time Analytics Dashboard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5350" y="5549205"/>
            <a:ext cx="304800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0" i="0" u="none">
                <a:solidFill>
                  <a:srgbClr val="64748B"/>
                </a:solidFill>
                <a:latin typeface="Inter"/>
              </a:rPr>
              <a:t>Pemantauan performa IT &amp; SLA resolution time secara transparan.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2950" y="5387280"/>
            <a:ext cx="322040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D" sz="900" b="1" i="0" u="none" dirty="0">
                <a:solidFill>
                  <a:srgbClr val="0F172A"/>
                </a:solidFill>
                <a:latin typeface="Inter"/>
              </a:rPr>
              <a:t>Service Response Optimization</a:t>
            </a:r>
            <a:endParaRPr sz="9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362950" y="5549205"/>
            <a:ext cx="3067050" cy="298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Penanganan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keluhan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IT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menjadi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lebih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cepat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terukur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, dan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tepat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sasaran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sesuai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tingkat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prioritas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ID" sz="862" b="0" i="0" u="none" dirty="0" err="1">
                <a:solidFill>
                  <a:srgbClr val="64748B"/>
                </a:solidFill>
                <a:latin typeface="Inter"/>
              </a:rPr>
              <a:t>masalah</a:t>
            </a:r>
            <a:r>
              <a:rPr lang="en-ID" sz="862" b="0" i="0" u="none" dirty="0">
                <a:solidFill>
                  <a:srgbClr val="64748B"/>
                </a:solidFill>
                <a:latin typeface="Inter"/>
              </a:rPr>
              <a:t>.</a:t>
            </a:r>
            <a:endParaRPr sz="862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76250" y="441975"/>
            <a:ext cx="11239500" cy="30008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1950" b="1" dirty="0">
                <a:solidFill>
                  <a:srgbClr val="0F172A"/>
                </a:solidFill>
                <a:latin typeface="Inter"/>
              </a:rPr>
              <a:t>PROJECT &amp; KAIZEN - </a:t>
            </a:r>
            <a:r>
              <a:rPr sz="1950" b="1" i="0" u="none" dirty="0">
                <a:solidFill>
                  <a:srgbClr val="0F172A"/>
                </a:solidFill>
                <a:latin typeface="Inter"/>
              </a:rPr>
              <a:t>GLPI TICKETING SYSTE</a:t>
            </a:r>
            <a:r>
              <a:rPr lang="en-US" sz="1950" b="1" i="0" u="none" dirty="0">
                <a:solidFill>
                  <a:srgbClr val="0F172A"/>
                </a:solidFill>
                <a:latin typeface="Inter"/>
              </a:rPr>
              <a:t>M</a:t>
            </a:r>
            <a:endParaRPr sz="195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76250" y="752475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1552575"/>
            <a:ext cx="57150" cy="85725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1927621"/>
            <a:ext cx="57150" cy="8572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2364213"/>
            <a:ext cx="57150" cy="857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3550" y="447675"/>
            <a:ext cx="2362200" cy="2286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4F7E116B-973E-A5EB-98C7-DA12BCD3C13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06431" y="1898965"/>
            <a:ext cx="1575119" cy="859155"/>
          </a:xfrm>
          <a:prstGeom prst="rect">
            <a:avLst/>
          </a:prstGeom>
        </p:spPr>
      </p:pic>
      <p:pic>
        <p:nvPicPr>
          <p:cNvPr id="78" name="Picture 4" descr="GLPI Software Pricing, Alternatives &amp; More 2026 | Capterra">
            <a:extLst>
              <a:ext uri="{FF2B5EF4-FFF2-40B4-BE49-F238E27FC236}">
                <a16:creationId xmlns:a16="http://schemas.microsoft.com/office/drawing/2014/main" id="{8B89D6C0-E22F-24D6-26D3-18E639059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1933575"/>
            <a:ext cx="1600787" cy="80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D9AE07-C5CC-D9F7-6DEB-54F3D3E0778D}"/>
              </a:ext>
            </a:extLst>
          </p:cNvPr>
          <p:cNvSpPr txBox="1"/>
          <p:nvPr/>
        </p:nvSpPr>
        <p:spPr>
          <a:xfrm>
            <a:off x="8527913" y="2365537"/>
            <a:ext cx="3032075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 dirty="0">
                <a:solidFill>
                  <a:srgbClr val="334155"/>
                </a:solidFill>
                <a:latin typeface="Inter"/>
              </a:rPr>
              <a:t>SLA &amp; </a:t>
            </a:r>
            <a:r>
              <a:rPr sz="900" b="1" i="0" u="none" dirty="0" err="1">
                <a:solidFill>
                  <a:srgbClr val="334155"/>
                </a:solidFill>
                <a:latin typeface="Inter"/>
              </a:rPr>
              <a:t>Notifikasi</a:t>
            </a:r>
            <a:r>
              <a:rPr sz="9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Pengingat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tenggat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&amp; </a:t>
            </a:r>
            <a:r>
              <a:rPr sz="900" b="0" i="0" u="none" dirty="0" err="1">
                <a:solidFill>
                  <a:srgbClr val="334155"/>
                </a:solidFill>
                <a:latin typeface="Inter"/>
              </a:rPr>
              <a:t>pembaruan</a:t>
            </a:r>
            <a:r>
              <a:rPr sz="900" b="0" i="0" u="none" dirty="0">
                <a:solidFill>
                  <a:srgbClr val="334155"/>
                </a:solidFill>
                <a:latin typeface="Inter"/>
              </a:rPr>
              <a:t> email.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9A02FAE0-A9CB-BFC2-D927-AB69A9715B9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4596" y="2391026"/>
            <a:ext cx="57150" cy="85725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90C2B70B-1A70-A8F0-B398-3910E6218AE5}"/>
              </a:ext>
            </a:extLst>
          </p:cNvPr>
          <p:cNvGrpSpPr/>
          <p:nvPr/>
        </p:nvGrpSpPr>
        <p:grpSpPr>
          <a:xfrm>
            <a:off x="636631" y="1131078"/>
            <a:ext cx="3203376" cy="289947"/>
            <a:chOff x="636631" y="1485247"/>
            <a:chExt cx="3203376" cy="28994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AE15036-53F4-C495-C807-2D5CC2E76B81}"/>
                </a:ext>
              </a:extLst>
            </p:cNvPr>
            <p:cNvSpPr/>
            <p:nvPr/>
          </p:nvSpPr>
          <p:spPr>
            <a:xfrm>
              <a:off x="636631" y="1485247"/>
              <a:ext cx="3203376" cy="289947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latin typeface="Inter"/>
                </a:rPr>
                <a:t>   ISSUED (KENDALA)</a:t>
              </a:r>
              <a:endParaRPr lang="en-ID" sz="1200" b="1" dirty="0">
                <a:latin typeface="Inter"/>
              </a:endParaRPr>
            </a:p>
          </p:txBody>
        </p:sp>
        <p:pic>
          <p:nvPicPr>
            <p:cNvPr id="68" name="Picture 67" descr="image.png">
              <a:extLst>
                <a:ext uri="{FF2B5EF4-FFF2-40B4-BE49-F238E27FC236}">
                  <a16:creationId xmlns:a16="http://schemas.microsoft.com/office/drawing/2014/main" id="{55B09923-0F96-612F-0327-20B2B0A1A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83858" y="1563548"/>
              <a:ext cx="128587" cy="123825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4FF0CB3-EE7A-6B42-0F87-4884600591EA}"/>
              </a:ext>
            </a:extLst>
          </p:cNvPr>
          <p:cNvGrpSpPr/>
          <p:nvPr/>
        </p:nvGrpSpPr>
        <p:grpSpPr>
          <a:xfrm>
            <a:off x="4317801" y="1140900"/>
            <a:ext cx="3556248" cy="289947"/>
            <a:chOff x="650786" y="2757479"/>
            <a:chExt cx="3203376" cy="289947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AE1F41BE-4A8D-0C87-C777-25DDC11EC478}"/>
                </a:ext>
              </a:extLst>
            </p:cNvPr>
            <p:cNvSpPr/>
            <p:nvPr/>
          </p:nvSpPr>
          <p:spPr>
            <a:xfrm>
              <a:off x="650786" y="2757479"/>
              <a:ext cx="3203376" cy="289947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latin typeface="Inter"/>
                </a:rPr>
                <a:t>   REMARKS (BEFORE VS AFTER)</a:t>
              </a:r>
              <a:endParaRPr lang="en-ID" sz="1200" b="1" dirty="0">
                <a:latin typeface="Inter"/>
              </a:endParaRPr>
            </a:p>
          </p:txBody>
        </p:sp>
        <p:pic>
          <p:nvPicPr>
            <p:cNvPr id="81" name="Picture 80" descr="image.png">
              <a:extLst>
                <a:ext uri="{FF2B5EF4-FFF2-40B4-BE49-F238E27FC236}">
                  <a16:creationId xmlns:a16="http://schemas.microsoft.com/office/drawing/2014/main" id="{E576EF6D-93D9-7E21-5C6F-CB33602AC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87953" y="2844550"/>
              <a:ext cx="128587" cy="123825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4E6C439-D9C3-ABC0-59A6-31C1F09420E8}"/>
              </a:ext>
            </a:extLst>
          </p:cNvPr>
          <p:cNvGrpSpPr/>
          <p:nvPr/>
        </p:nvGrpSpPr>
        <p:grpSpPr>
          <a:xfrm>
            <a:off x="8321874" y="1142181"/>
            <a:ext cx="3203376" cy="289947"/>
            <a:chOff x="638175" y="2772660"/>
            <a:chExt cx="3203376" cy="289947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3971E033-FF35-D44B-DCBA-473598949FF6}"/>
                </a:ext>
              </a:extLst>
            </p:cNvPr>
            <p:cNvSpPr/>
            <p:nvPr/>
          </p:nvSpPr>
          <p:spPr>
            <a:xfrm>
              <a:off x="638175" y="2772660"/>
              <a:ext cx="3203376" cy="289947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latin typeface="Inter"/>
                </a:rPr>
                <a:t>   DETAILS PROJECT</a:t>
              </a:r>
              <a:endParaRPr lang="en-ID" sz="1200" b="1" dirty="0">
                <a:latin typeface="Inter"/>
              </a:endParaRPr>
            </a:p>
          </p:txBody>
        </p:sp>
        <p:pic>
          <p:nvPicPr>
            <p:cNvPr id="92" name="Picture 91" descr="image.png">
              <a:extLst>
                <a:ext uri="{FF2B5EF4-FFF2-40B4-BE49-F238E27FC236}">
                  <a16:creationId xmlns:a16="http://schemas.microsoft.com/office/drawing/2014/main" id="{BA8B367D-96B3-5AFA-924B-C26587C7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88429" y="2849416"/>
              <a:ext cx="128587" cy="123825"/>
            </a:xfrm>
            <a:prstGeom prst="rect">
              <a:avLst/>
            </a:prstGeom>
          </p:spPr>
        </p:pic>
      </p:grp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06AB9DB-5B9E-29D0-E749-2D29D10A5E6D}"/>
              </a:ext>
            </a:extLst>
          </p:cNvPr>
          <p:cNvSpPr/>
          <p:nvPr/>
        </p:nvSpPr>
        <p:spPr>
          <a:xfrm>
            <a:off x="640779" y="4100188"/>
            <a:ext cx="2554858" cy="25287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latin typeface="Inter"/>
              </a:rPr>
              <a:t>   PROJECT BENEFITS &amp; KEYS IMPACTS</a:t>
            </a:r>
            <a:endParaRPr lang="en-ID" sz="1100" b="1" dirty="0">
              <a:latin typeface="Inter"/>
            </a:endParaRPr>
          </a:p>
        </p:txBody>
      </p:sp>
      <p:pic>
        <p:nvPicPr>
          <p:cNvPr id="97" name="Picture 96" descr="image.png">
            <a:extLst>
              <a:ext uri="{FF2B5EF4-FFF2-40B4-BE49-F238E27FC236}">
                <a16:creationId xmlns:a16="http://schemas.microsoft.com/office/drawing/2014/main" id="{A51F3F57-6521-EF92-0F70-D6E51A3565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39" y="4507486"/>
            <a:ext cx="90487" cy="1143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A95E9A5-0724-07CE-7B44-0902910B64F7}"/>
              </a:ext>
            </a:extLst>
          </p:cNvPr>
          <p:cNvGrpSpPr/>
          <p:nvPr/>
        </p:nvGrpSpPr>
        <p:grpSpPr>
          <a:xfrm>
            <a:off x="4851201" y="1621347"/>
            <a:ext cx="657226" cy="197749"/>
            <a:chOff x="5525476" y="1635070"/>
            <a:chExt cx="722775" cy="174040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A1F10DFE-4AD8-CB48-392A-DA4C67FD342E}"/>
                </a:ext>
              </a:extLst>
            </p:cNvPr>
            <p:cNvSpPr/>
            <p:nvPr/>
          </p:nvSpPr>
          <p:spPr>
            <a:xfrm>
              <a:off x="5525476" y="1635070"/>
              <a:ext cx="722775" cy="17404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0000"/>
                  </a:solidFill>
                  <a:latin typeface="Inter"/>
                </a:rPr>
                <a:t> BEFORE</a:t>
              </a:r>
              <a:endParaRPr lang="en-ID" sz="1000" b="1" dirty="0">
                <a:solidFill>
                  <a:srgbClr val="FF0000"/>
                </a:solidFill>
                <a:latin typeface="Inter"/>
              </a:endParaRPr>
            </a:p>
          </p:txBody>
        </p:sp>
        <p:pic>
          <p:nvPicPr>
            <p:cNvPr id="99" name="Picture 98" descr="image.png">
              <a:extLst>
                <a:ext uri="{FF2B5EF4-FFF2-40B4-BE49-F238E27FC236}">
                  <a16:creationId xmlns:a16="http://schemas.microsoft.com/office/drawing/2014/main" id="{722462F2-CF60-D8F6-3C7B-4A1094D6C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558785" y="1679333"/>
              <a:ext cx="76200" cy="104775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0C854A0-847C-6D1F-E76F-81125251F685}"/>
              </a:ext>
            </a:extLst>
          </p:cNvPr>
          <p:cNvGrpSpPr/>
          <p:nvPr/>
        </p:nvGrpSpPr>
        <p:grpSpPr>
          <a:xfrm>
            <a:off x="6700178" y="1632028"/>
            <a:ext cx="657226" cy="197749"/>
            <a:chOff x="5003601" y="1773747"/>
            <a:chExt cx="657226" cy="19774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EC2CE769-7D08-66C4-FD39-25C5B6D37DFB}"/>
                </a:ext>
              </a:extLst>
            </p:cNvPr>
            <p:cNvSpPr/>
            <p:nvPr/>
          </p:nvSpPr>
          <p:spPr>
            <a:xfrm>
              <a:off x="5003601" y="1773747"/>
              <a:ext cx="657226" cy="19774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0000"/>
                  </a:solidFill>
                  <a:latin typeface="Inter"/>
                </a:rPr>
                <a:t> </a:t>
              </a:r>
              <a:r>
                <a:rPr lang="en-US" sz="1000" b="1" dirty="0">
                  <a:solidFill>
                    <a:srgbClr val="00B050"/>
                  </a:solidFill>
                  <a:latin typeface="Inter"/>
                </a:rPr>
                <a:t>AFTER</a:t>
              </a:r>
              <a:endParaRPr lang="en-ID" sz="1000" b="1" dirty="0">
                <a:solidFill>
                  <a:srgbClr val="00B050"/>
                </a:solidFill>
                <a:latin typeface="Inter"/>
              </a:endParaRPr>
            </a:p>
          </p:txBody>
        </p:sp>
        <p:pic>
          <p:nvPicPr>
            <p:cNvPr id="104" name="Picture 103" descr="image.png">
              <a:extLst>
                <a:ext uri="{FF2B5EF4-FFF2-40B4-BE49-F238E27FC236}">
                  <a16:creationId xmlns:a16="http://schemas.microsoft.com/office/drawing/2014/main" id="{90302A0F-0F6D-6364-5825-F8DC301C4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059789" y="1826318"/>
              <a:ext cx="95250" cy="104775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6194EC0-E3BD-7C6D-AC75-42B2B99135F0}"/>
              </a:ext>
            </a:extLst>
          </p:cNvPr>
          <p:cNvGrpSpPr/>
          <p:nvPr/>
        </p:nvGrpSpPr>
        <p:grpSpPr>
          <a:xfrm>
            <a:off x="8347189" y="3290084"/>
            <a:ext cx="3169701" cy="478191"/>
            <a:chOff x="5152173" y="3181889"/>
            <a:chExt cx="3169701" cy="509644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9AB0B598-5582-7FA8-F0B4-3E93C3FB1105}"/>
                </a:ext>
              </a:extLst>
            </p:cNvPr>
            <p:cNvSpPr/>
            <p:nvPr/>
          </p:nvSpPr>
          <p:spPr>
            <a:xfrm>
              <a:off x="5152173" y="3181889"/>
              <a:ext cx="3169701" cy="50964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AC6D4C5-E981-80F7-A9D0-4CBDF738886E}"/>
                </a:ext>
              </a:extLst>
            </p:cNvPr>
            <p:cNvGrpSpPr/>
            <p:nvPr/>
          </p:nvGrpSpPr>
          <p:grpSpPr>
            <a:xfrm>
              <a:off x="6076195" y="3222298"/>
              <a:ext cx="1761635" cy="409019"/>
              <a:chOff x="6237181" y="3196542"/>
              <a:chExt cx="1761635" cy="409019"/>
            </a:xfrm>
          </p:grpSpPr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D2F3E64-B1BA-7C22-CEC4-909DFBB1DA51}"/>
                  </a:ext>
                </a:extLst>
              </p:cNvPr>
              <p:cNvSpPr txBox="1"/>
              <p:nvPr/>
            </p:nvSpPr>
            <p:spPr>
              <a:xfrm>
                <a:off x="6436116" y="3196542"/>
                <a:ext cx="92128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>
                    <a:solidFill>
                      <a:schemeClr val="bg1">
                        <a:lumMod val="85000"/>
                      </a:schemeClr>
                    </a:solidFill>
                  </a:rPr>
                  <a:t>PLACE / SCOPE</a:t>
                </a:r>
                <a:endParaRPr lang="en-ID" sz="900" b="1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pic>
            <p:nvPicPr>
              <p:cNvPr id="109" name="Picture 108" descr="image.png">
                <a:extLst>
                  <a:ext uri="{FF2B5EF4-FFF2-40B4-BE49-F238E27FC236}">
                    <a16:creationId xmlns:a16="http://schemas.microsoft.com/office/drawing/2014/main" id="{8E2F9009-9378-A9BA-169E-D42EC50D7C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29638" y="3268905"/>
                <a:ext cx="61912" cy="95250"/>
              </a:xfrm>
              <a:prstGeom prst="rect">
                <a:avLst/>
              </a:prstGeom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AF423A7-B4C4-64AC-0835-860E9153C57C}"/>
                  </a:ext>
                </a:extLst>
              </p:cNvPr>
              <p:cNvSpPr txBox="1"/>
              <p:nvPr/>
            </p:nvSpPr>
            <p:spPr>
              <a:xfrm>
                <a:off x="6237181" y="3374729"/>
                <a:ext cx="176163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bg1"/>
                    </a:solidFill>
                  </a:rPr>
                  <a:t>ADMIN, </a:t>
                </a:r>
                <a:r>
                  <a:rPr lang="en-US" sz="900" dirty="0" err="1">
                    <a:solidFill>
                      <a:schemeClr val="bg1"/>
                    </a:solidFill>
                  </a:rPr>
                  <a:t>IWw</a:t>
                </a:r>
                <a:r>
                  <a:rPr lang="en-US" sz="900" dirty="0">
                    <a:solidFill>
                      <a:schemeClr val="bg1"/>
                    </a:solidFill>
                  </a:rPr>
                  <a:t>, </a:t>
                </a:r>
                <a:r>
                  <a:rPr lang="en-US" sz="900" dirty="0" err="1">
                    <a:solidFill>
                      <a:schemeClr val="bg1"/>
                    </a:solidFill>
                  </a:rPr>
                  <a:t>Iwe</a:t>
                </a:r>
                <a:r>
                  <a:rPr lang="en-US" sz="900" dirty="0">
                    <a:solidFill>
                      <a:schemeClr val="bg1"/>
                    </a:solidFill>
                  </a:rPr>
                  <a:t> &amp; </a:t>
                </a:r>
                <a:r>
                  <a:rPr lang="en-US" sz="900" dirty="0" err="1">
                    <a:solidFill>
                      <a:schemeClr val="bg1"/>
                    </a:solidFill>
                  </a:rPr>
                  <a:t>IWn</a:t>
                </a:r>
                <a:endParaRPr lang="en-ID" sz="9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F1D83-0755-7311-C015-A79CFF587668}"/>
              </a:ext>
            </a:extLst>
          </p:cNvPr>
          <p:cNvSpPr txBox="1"/>
          <p:nvPr/>
        </p:nvSpPr>
        <p:spPr>
          <a:xfrm>
            <a:off x="8521749" y="2836952"/>
            <a:ext cx="3032075" cy="299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14"/>
              </a:lnSpc>
            </a:pPr>
            <a:r>
              <a:rPr lang="en-ID" sz="900" b="1" dirty="0"/>
              <a:t>Dashboard Reporting &amp; Analytics:</a:t>
            </a:r>
            <a:r>
              <a:rPr lang="en-ID" sz="900" dirty="0"/>
              <a:t> </a:t>
            </a:r>
            <a:r>
              <a:rPr lang="en-ID" sz="900" dirty="0" err="1"/>
              <a:t>Visualisasi</a:t>
            </a:r>
            <a:r>
              <a:rPr lang="en-ID" sz="900" dirty="0"/>
              <a:t> </a:t>
            </a:r>
            <a:r>
              <a:rPr lang="en-ID" sz="900" i="1" dirty="0"/>
              <a:t>real-time</a:t>
            </a:r>
            <a:r>
              <a:rPr lang="en-ID" sz="900" dirty="0"/>
              <a:t> </a:t>
            </a:r>
            <a:r>
              <a:rPr lang="en-ID" sz="900" dirty="0" err="1"/>
              <a:t>untuk</a:t>
            </a:r>
            <a:r>
              <a:rPr lang="en-ID" sz="900" dirty="0"/>
              <a:t> </a:t>
            </a:r>
            <a:r>
              <a:rPr lang="en-ID" sz="900" dirty="0" err="1"/>
              <a:t>memantau</a:t>
            </a:r>
            <a:r>
              <a:rPr lang="en-ID" sz="900" dirty="0"/>
              <a:t> </a:t>
            </a:r>
            <a:r>
              <a:rPr lang="en-ID" sz="900" dirty="0" err="1"/>
              <a:t>performa</a:t>
            </a:r>
            <a:r>
              <a:rPr lang="en-ID" sz="900" dirty="0"/>
              <a:t> </a:t>
            </a:r>
            <a:r>
              <a:rPr lang="en-ID" sz="900" i="1" dirty="0"/>
              <a:t>helpdesk</a:t>
            </a:r>
            <a:r>
              <a:rPr lang="en-ID" sz="900" dirty="0"/>
              <a:t>, </a:t>
            </a:r>
            <a:r>
              <a:rPr lang="en-ID" sz="900" dirty="0" err="1"/>
              <a:t>tren</a:t>
            </a:r>
            <a:r>
              <a:rPr lang="en-ID" sz="900" dirty="0"/>
              <a:t> </a:t>
            </a:r>
            <a:r>
              <a:rPr lang="en-ID" sz="900" dirty="0" err="1"/>
              <a:t>masalah</a:t>
            </a:r>
            <a:r>
              <a:rPr lang="en-ID" sz="900" dirty="0"/>
              <a:t>, dan status </a:t>
            </a:r>
            <a:r>
              <a:rPr lang="en-ID" sz="900" dirty="0" err="1"/>
              <a:t>tiket</a:t>
            </a:r>
            <a:r>
              <a:rPr lang="en-ID" sz="900" dirty="0"/>
              <a:t>.</a:t>
            </a:r>
            <a:endParaRPr sz="900" b="0" i="0" u="none" dirty="0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F40391C8-5B57-2E6A-E193-597E98AA02B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48432" y="2862441"/>
            <a:ext cx="57150" cy="85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316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Inter</vt:lpstr>
      <vt:lpstr>Inter Medium</vt:lpstr>
      <vt:lpstr>Inter SemiBold</vt:lpstr>
      <vt:lpstr>Poppins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Taufan Wisnu</dc:creator>
  <cp:keywords/>
  <dc:description>generated using python-pptx</dc:description>
  <cp:lastModifiedBy>Taufan Wisnu</cp:lastModifiedBy>
  <cp:revision>6</cp:revision>
  <dcterms:created xsi:type="dcterms:W3CDTF">2013-01-27T09:14:16Z</dcterms:created>
  <dcterms:modified xsi:type="dcterms:W3CDTF">2026-09-16T00:14:54Z</dcterms:modified>
  <cp:category/>
</cp:coreProperties>
</file>