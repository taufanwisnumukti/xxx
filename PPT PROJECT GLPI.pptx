
<file path=[Content_Types].xml><?xml version="1.0" encoding="utf-8"?>
<Types xmlns="http://schemas.openxmlformats.org/package/2006/content-types">
  <Default Extension="jfif" ContentType="image/jpeg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42" autoAdjust="0"/>
    <p:restoredTop sz="94660"/>
  </p:normalViewPr>
  <p:slideViewPr>
    <p:cSldViewPr snapToGrid="0" snapToObjects="1">
      <p:cViewPr varScale="1">
        <p:scale>
          <a:sx n="148" d="100"/>
          <a:sy n="148" d="100"/>
        </p:scale>
        <p:origin x="780" y="13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13" Type="http://schemas.openxmlformats.org/officeDocument/2006/relationships/image" Target="../media/image22.png"/><Relationship Id="rId18" Type="http://schemas.openxmlformats.org/officeDocument/2006/relationships/image" Target="../media/image27.png"/><Relationship Id="rId26" Type="http://schemas.openxmlformats.org/officeDocument/2006/relationships/image" Target="../media/image35.jpeg"/><Relationship Id="rId3" Type="http://schemas.openxmlformats.org/officeDocument/2006/relationships/image" Target="../media/image12.png"/><Relationship Id="rId21" Type="http://schemas.openxmlformats.org/officeDocument/2006/relationships/image" Target="../media/image30.png"/><Relationship Id="rId7" Type="http://schemas.openxmlformats.org/officeDocument/2006/relationships/image" Target="../media/image16.png"/><Relationship Id="rId12" Type="http://schemas.openxmlformats.org/officeDocument/2006/relationships/image" Target="../media/image21.png"/><Relationship Id="rId17" Type="http://schemas.openxmlformats.org/officeDocument/2006/relationships/image" Target="../media/image26.png"/><Relationship Id="rId25" Type="http://schemas.openxmlformats.org/officeDocument/2006/relationships/image" Target="../media/image34.jfif"/><Relationship Id="rId2" Type="http://schemas.openxmlformats.org/officeDocument/2006/relationships/image" Target="../media/image1.png"/><Relationship Id="rId16" Type="http://schemas.openxmlformats.org/officeDocument/2006/relationships/image" Target="../media/image25.png"/><Relationship Id="rId20" Type="http://schemas.openxmlformats.org/officeDocument/2006/relationships/image" Target="../media/image29.png"/><Relationship Id="rId29" Type="http://schemas.openxmlformats.org/officeDocument/2006/relationships/image" Target="../media/image3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.png"/><Relationship Id="rId11" Type="http://schemas.openxmlformats.org/officeDocument/2006/relationships/image" Target="../media/image20.png"/><Relationship Id="rId24" Type="http://schemas.openxmlformats.org/officeDocument/2006/relationships/image" Target="../media/image33.png"/><Relationship Id="rId5" Type="http://schemas.openxmlformats.org/officeDocument/2006/relationships/image" Target="../media/image14.png"/><Relationship Id="rId15" Type="http://schemas.openxmlformats.org/officeDocument/2006/relationships/image" Target="../media/image24.png"/><Relationship Id="rId23" Type="http://schemas.openxmlformats.org/officeDocument/2006/relationships/image" Target="../media/image32.png"/><Relationship Id="rId28" Type="http://schemas.openxmlformats.org/officeDocument/2006/relationships/image" Target="../media/image37.png"/><Relationship Id="rId10" Type="http://schemas.openxmlformats.org/officeDocument/2006/relationships/image" Target="../media/image19.png"/><Relationship Id="rId19" Type="http://schemas.openxmlformats.org/officeDocument/2006/relationships/image" Target="../media/image28.png"/><Relationship Id="rId4" Type="http://schemas.openxmlformats.org/officeDocument/2006/relationships/image" Target="../media/image13.png"/><Relationship Id="rId9" Type="http://schemas.openxmlformats.org/officeDocument/2006/relationships/image" Target="../media/image18.png"/><Relationship Id="rId14" Type="http://schemas.openxmlformats.org/officeDocument/2006/relationships/image" Target="../media/image23.png"/><Relationship Id="rId22" Type="http://schemas.openxmlformats.org/officeDocument/2006/relationships/image" Target="../media/image31.png"/><Relationship Id="rId27" Type="http://schemas.openxmlformats.org/officeDocument/2006/relationships/image" Target="../media/image3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250" y="959930"/>
            <a:ext cx="3238500" cy="547687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48125" y="959930"/>
            <a:ext cx="7667625" cy="550545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3900" y="4774852"/>
            <a:ext cx="2743200" cy="504825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6250" y="6524625"/>
            <a:ext cx="11239500" cy="219075"/>
          </a:xfrm>
          <a:prstGeom prst="rect">
            <a:avLst/>
          </a:prstGeom>
        </p:spPr>
      </p:pic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86987" y="447675"/>
            <a:ext cx="1528762" cy="2286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6250" y="6610350"/>
            <a:ext cx="1962150" cy="12695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25" b="0" i="0" u="none" dirty="0">
                <a:solidFill>
                  <a:srgbClr val="94A3B8"/>
                </a:solidFill>
                <a:latin typeface="Inter"/>
              </a:rPr>
              <a:t>PT Feng Tay Indonesia - IT</a:t>
            </a:r>
            <a:r>
              <a:rPr lang="en-US" sz="825" b="0" i="0" u="none" dirty="0">
                <a:solidFill>
                  <a:srgbClr val="94A3B8"/>
                </a:solidFill>
                <a:latin typeface="Inter"/>
              </a:rPr>
              <a:t>PCN</a:t>
            </a:r>
            <a:endParaRPr sz="825" b="0" i="0" u="none" dirty="0">
              <a:solidFill>
                <a:srgbClr val="94A3B8"/>
              </a:solidFill>
              <a:latin typeface="Inter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591800" y="6610350"/>
            <a:ext cx="112395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25" b="0" i="0" u="none">
                <a:solidFill>
                  <a:srgbClr val="94A3B8"/>
                </a:solidFill>
                <a:latin typeface="Inter"/>
              </a:rPr>
              <a:t>Halaman Cover / Profil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00182" y="500429"/>
            <a:ext cx="157162" cy="123825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0360" y="3673822"/>
            <a:ext cx="2230278" cy="3143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50" b="1" i="0" u="none">
                <a:solidFill>
                  <a:srgbClr val="FFFFFF"/>
                </a:solidFill>
                <a:latin typeface="Poppins"/>
              </a:rPr>
              <a:t>Taufan Wisnu Mukti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28762" y="4026247"/>
            <a:ext cx="1133475" cy="1866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470"/>
              </a:lnSpc>
            </a:pPr>
            <a:r>
              <a:rPr sz="1050" b="0" i="0" u="none">
                <a:solidFill>
                  <a:srgbClr val="38BDF8"/>
                </a:solidFill>
                <a:latin typeface="Inter SemiBold"/>
              </a:rPr>
              <a:t>ITPCN - Engineer</a:t>
            </a:r>
          </a:p>
        </p:txBody>
      </p:sp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490662" y="4327177"/>
            <a:ext cx="1209675" cy="238125"/>
          </a:xfrm>
          <a:prstGeom prst="rect">
            <a:avLst/>
          </a:prstGeom>
        </p:spPr>
      </p:pic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537557" y="4393852"/>
            <a:ext cx="133350" cy="1143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226343" y="4936777"/>
            <a:ext cx="1738312" cy="3231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50" b="1" i="0" u="none" dirty="0">
                <a:solidFill>
                  <a:srgbClr val="FFFFFF"/>
                </a:solidFill>
                <a:latin typeface="Inter"/>
              </a:rPr>
              <a:t>PT FENG TAY INDONES</a:t>
            </a:r>
            <a:r>
              <a:rPr lang="en-ID" sz="1050" b="1" i="0" u="none" dirty="0">
                <a:solidFill>
                  <a:srgbClr val="FFFFFF"/>
                </a:solidFill>
                <a:latin typeface="Inter"/>
              </a:rPr>
              <a:t>I</a:t>
            </a:r>
            <a:r>
              <a:rPr sz="1050" b="1" i="0" u="none" dirty="0">
                <a:solidFill>
                  <a:srgbClr val="FFFFFF"/>
                </a:solidFill>
                <a:latin typeface="Inter"/>
              </a:rPr>
              <a:t>A</a:t>
            </a:r>
            <a:r>
              <a:rPr lang="en-US" sz="1050" b="1" i="0" u="none" dirty="0">
                <a:solidFill>
                  <a:srgbClr val="FFFFFF"/>
                </a:solidFill>
                <a:latin typeface="Inter"/>
              </a:rPr>
              <a:t> ENTERPRISES</a:t>
            </a:r>
            <a:endParaRPr sz="1050" b="1" i="0" u="none" dirty="0">
              <a:solidFill>
                <a:srgbClr val="FFFFFF"/>
              </a:solidFill>
              <a:latin typeface="Inter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4484847" y="3388366"/>
            <a:ext cx="7230903" cy="422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187"/>
              </a:lnSpc>
            </a:pPr>
            <a:r>
              <a:rPr sz="3200" b="1" i="0" u="none" dirty="0">
                <a:solidFill>
                  <a:srgbClr val="0F172A"/>
                </a:solidFill>
                <a:latin typeface="Poppins"/>
              </a:rPr>
              <a:t>PROJECT &amp; KAIZEN IMPROVEMENT</a:t>
            </a:r>
          </a:p>
        </p:txBody>
      </p:sp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91050" y="1433512"/>
            <a:ext cx="142875" cy="123825"/>
          </a:xfrm>
          <a:prstGeom prst="rect">
            <a:avLst/>
          </a:prstGeom>
        </p:spPr>
      </p:pic>
      <p:sp>
        <p:nvSpPr>
          <p:cNvPr id="36" name="Rectangle 35"/>
          <p:cNvSpPr/>
          <p:nvPr/>
        </p:nvSpPr>
        <p:spPr>
          <a:xfrm>
            <a:off x="476250" y="752475"/>
            <a:ext cx="11239500" cy="28575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1E7F0423-BC6E-DDCB-BF00-6F3271207D52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454803" y="2053190"/>
            <a:ext cx="1207434" cy="157408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4309113"/>
            <a:ext cx="12192000" cy="11167113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250" y="4005035"/>
            <a:ext cx="11239500" cy="212467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250" y="6166466"/>
            <a:ext cx="11239500" cy="323192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6250" y="971618"/>
            <a:ext cx="3527226" cy="2682728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55876" y="971550"/>
            <a:ext cx="3880098" cy="2862857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31935" y="606288"/>
            <a:ext cx="3527375" cy="2862857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10800" y="6234573"/>
            <a:ext cx="1314450" cy="228600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317801" y="1533525"/>
            <a:ext cx="1730424" cy="2138957"/>
          </a:xfrm>
          <a:prstGeom prst="rect">
            <a:avLst/>
          </a:prstGeom>
        </p:spPr>
      </p:pic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143476" y="1533525"/>
            <a:ext cx="1730573" cy="2138957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76250" y="6610350"/>
            <a:ext cx="2276475" cy="12695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ID" sz="825" dirty="0">
                <a:solidFill>
                  <a:srgbClr val="94A3B8"/>
                </a:solidFill>
                <a:latin typeface="Inter"/>
              </a:rPr>
              <a:t>PT Feng Tay Indonesia - ITPCN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25125" y="6610350"/>
            <a:ext cx="1190625" cy="12695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25" b="0" i="0" u="none" dirty="0">
                <a:solidFill>
                  <a:srgbClr val="94A3B8"/>
                </a:solidFill>
                <a:latin typeface="Inter"/>
              </a:rPr>
              <a:t>Halaman 1 </a:t>
            </a:r>
            <a:r>
              <a:rPr sz="825" b="0" i="0" u="none" dirty="0" err="1">
                <a:solidFill>
                  <a:srgbClr val="94A3B8"/>
                </a:solidFill>
                <a:latin typeface="Inter"/>
              </a:rPr>
              <a:t>dari</a:t>
            </a:r>
            <a:r>
              <a:rPr sz="825" b="0" i="0" u="none" dirty="0">
                <a:solidFill>
                  <a:srgbClr val="94A3B8"/>
                </a:solidFill>
                <a:latin typeface="Inter"/>
              </a:rPr>
              <a:t> 2</a:t>
            </a:r>
          </a:p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467850" y="504825"/>
            <a:ext cx="147637" cy="123825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42950" y="6272673"/>
            <a:ext cx="1352550" cy="152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75" b="0" i="0" u="none">
                <a:solidFill>
                  <a:srgbClr val="CBD5E1"/>
                </a:solidFill>
                <a:latin typeface="Inter SemiBold"/>
              </a:rPr>
              <a:t>Implementation Status</a:t>
            </a:r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13841" y="4233048"/>
            <a:ext cx="90487" cy="114300"/>
          </a:xfrm>
          <a:prstGeom prst="rect">
            <a:avLst/>
          </a:prstGeom>
        </p:spPr>
      </p:pic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301290" y="6307841"/>
            <a:ext cx="104775" cy="123825"/>
          </a:xfrm>
          <a:prstGeom prst="rect">
            <a:avLst/>
          </a:prstGeom>
        </p:spPr>
      </p:pic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83600" y="1223962"/>
            <a:ext cx="128587" cy="123825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809625" y="1533525"/>
            <a:ext cx="3031926" cy="3083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214"/>
              </a:lnSpc>
            </a:pPr>
            <a:r>
              <a:rPr sz="900" b="0" i="0" u="none">
                <a:solidFill>
                  <a:srgbClr val="334155"/>
                </a:solidFill>
                <a:latin typeface="Inter"/>
              </a:rPr>
              <a:t>Permintaan support IT masih manual via WA, telepon, atau lisan.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9625" y="1908571"/>
            <a:ext cx="3031926" cy="3083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214"/>
              </a:lnSpc>
            </a:pPr>
            <a:r>
              <a:rPr sz="900" b="0" i="0" u="none" dirty="0">
                <a:solidFill>
                  <a:srgbClr val="334155"/>
                </a:solidFill>
                <a:latin typeface="Inter"/>
              </a:rPr>
              <a:t>Belum </a:t>
            </a:r>
            <a:r>
              <a:rPr sz="900" b="0" i="0" u="none" dirty="0" err="1">
                <a:solidFill>
                  <a:srgbClr val="334155"/>
                </a:solidFill>
                <a:latin typeface="Inter"/>
              </a:rPr>
              <a:t>ada</a:t>
            </a:r>
            <a:r>
              <a:rPr sz="900" b="0" i="0" u="none" dirty="0">
                <a:solidFill>
                  <a:srgbClr val="334155"/>
                </a:solidFill>
                <a:latin typeface="Inter"/>
              </a:rPr>
              <a:t> </a:t>
            </a:r>
            <a:r>
              <a:rPr sz="900" b="0" i="0" u="none" dirty="0" err="1">
                <a:solidFill>
                  <a:srgbClr val="334155"/>
                </a:solidFill>
                <a:latin typeface="Inter"/>
              </a:rPr>
              <a:t>sistem</a:t>
            </a:r>
            <a:r>
              <a:rPr sz="900" b="0" i="0" u="none" dirty="0">
                <a:solidFill>
                  <a:srgbClr val="334155"/>
                </a:solidFill>
                <a:latin typeface="Inter"/>
              </a:rPr>
              <a:t> </a:t>
            </a:r>
            <a:r>
              <a:rPr sz="900" b="0" i="0" u="none" dirty="0" err="1">
                <a:solidFill>
                  <a:srgbClr val="334155"/>
                </a:solidFill>
                <a:latin typeface="Inter"/>
              </a:rPr>
              <a:t>terpusat</a:t>
            </a:r>
            <a:r>
              <a:rPr sz="900" b="0" i="0" u="none" dirty="0">
                <a:solidFill>
                  <a:srgbClr val="334155"/>
                </a:solidFill>
                <a:latin typeface="Inter"/>
              </a:rPr>
              <a:t> untuk tracking </a:t>
            </a:r>
            <a:r>
              <a:rPr sz="900" b="0" i="0" u="none" dirty="0" err="1">
                <a:solidFill>
                  <a:srgbClr val="334155"/>
                </a:solidFill>
                <a:latin typeface="Inter"/>
              </a:rPr>
              <a:t>tiket</a:t>
            </a:r>
            <a:r>
              <a:rPr sz="900" b="0" i="0" u="none" dirty="0">
                <a:solidFill>
                  <a:srgbClr val="334155"/>
                </a:solidFill>
                <a:latin typeface="Inter"/>
              </a:rPr>
              <a:t>, SLA,</a:t>
            </a:r>
            <a:r>
              <a:rPr lang="en-US" sz="900" b="0" i="0" u="none" dirty="0">
                <a:solidFill>
                  <a:srgbClr val="334155"/>
                </a:solidFill>
                <a:latin typeface="Inter"/>
              </a:rPr>
              <a:t> </a:t>
            </a:r>
            <a:r>
              <a:rPr lang="en-US" sz="900" b="0" i="0" u="none" dirty="0" err="1">
                <a:solidFill>
                  <a:srgbClr val="334155"/>
                </a:solidFill>
                <a:latin typeface="Inter"/>
              </a:rPr>
              <a:t>riwayat</a:t>
            </a:r>
            <a:r>
              <a:rPr lang="en-US" sz="900" b="0" i="0" u="none" dirty="0">
                <a:solidFill>
                  <a:srgbClr val="334155"/>
                </a:solidFill>
                <a:latin typeface="Inter"/>
              </a:rPr>
              <a:t> </a:t>
            </a:r>
            <a:r>
              <a:rPr lang="en-US" sz="900" b="0" i="0" u="none" dirty="0" err="1">
                <a:solidFill>
                  <a:srgbClr val="334155"/>
                </a:solidFill>
                <a:latin typeface="Inter"/>
              </a:rPr>
              <a:t>kerusakan</a:t>
            </a:r>
            <a:r>
              <a:rPr lang="en-US" sz="900" b="0" i="0" u="none" dirty="0">
                <a:solidFill>
                  <a:srgbClr val="334155"/>
                </a:solidFill>
                <a:latin typeface="Inter"/>
              </a:rPr>
              <a:t> assets</a:t>
            </a:r>
            <a:r>
              <a:rPr sz="900" b="0" i="0" u="none" dirty="0">
                <a:solidFill>
                  <a:srgbClr val="334155"/>
                </a:solidFill>
                <a:latin typeface="Inter"/>
              </a:rPr>
              <a:t> &amp; </a:t>
            </a:r>
            <a:r>
              <a:rPr sz="900" b="0" i="0" u="none" dirty="0" err="1">
                <a:solidFill>
                  <a:srgbClr val="334155"/>
                </a:solidFill>
                <a:latin typeface="Inter"/>
              </a:rPr>
              <a:t>riwayat</a:t>
            </a:r>
            <a:r>
              <a:rPr sz="900" b="0" i="0" u="none" dirty="0">
                <a:solidFill>
                  <a:srgbClr val="334155"/>
                </a:solidFill>
                <a:latin typeface="Inter"/>
              </a:rPr>
              <a:t> </a:t>
            </a:r>
            <a:r>
              <a:rPr sz="900" b="0" i="0" u="none" dirty="0" err="1">
                <a:solidFill>
                  <a:srgbClr val="334155"/>
                </a:solidFill>
                <a:latin typeface="Inter"/>
              </a:rPr>
              <a:t>pengerjaan</a:t>
            </a:r>
            <a:r>
              <a:rPr sz="900" b="0" i="0" u="none" dirty="0">
                <a:solidFill>
                  <a:srgbClr val="334155"/>
                </a:solidFill>
                <a:latin typeface="Inter"/>
              </a:rPr>
              <a:t>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9625" y="2345163"/>
            <a:ext cx="3031926" cy="2997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214"/>
              </a:lnSpc>
            </a:pPr>
            <a:r>
              <a:rPr lang="en-US" sz="900" dirty="0">
                <a:solidFill>
                  <a:srgbClr val="334155"/>
                </a:solidFill>
                <a:latin typeface="Inter"/>
              </a:rPr>
              <a:t>Belum </a:t>
            </a:r>
            <a:r>
              <a:rPr lang="en-US" sz="900" dirty="0" err="1">
                <a:solidFill>
                  <a:srgbClr val="334155"/>
                </a:solidFill>
                <a:latin typeface="Inter"/>
              </a:rPr>
              <a:t>tersedianya</a:t>
            </a:r>
            <a:r>
              <a:rPr lang="en-US" sz="900" dirty="0">
                <a:solidFill>
                  <a:srgbClr val="334155"/>
                </a:solidFill>
                <a:latin typeface="Inter"/>
              </a:rPr>
              <a:t> analytics dan </a:t>
            </a:r>
            <a:r>
              <a:rPr lang="en-US" sz="900" dirty="0" err="1">
                <a:solidFill>
                  <a:srgbClr val="334155"/>
                </a:solidFill>
                <a:latin typeface="Inter"/>
              </a:rPr>
              <a:t>pelaporan</a:t>
            </a:r>
            <a:r>
              <a:rPr lang="en-US" sz="900" dirty="0">
                <a:solidFill>
                  <a:srgbClr val="334155"/>
                </a:solidFill>
                <a:latin typeface="Inter"/>
              </a:rPr>
              <a:t> </a:t>
            </a:r>
            <a:r>
              <a:rPr lang="en-US" sz="900" dirty="0" err="1">
                <a:solidFill>
                  <a:srgbClr val="334155"/>
                </a:solidFill>
                <a:latin typeface="Inter"/>
              </a:rPr>
              <a:t>resmi</a:t>
            </a:r>
            <a:r>
              <a:rPr lang="en-US" sz="900" dirty="0">
                <a:solidFill>
                  <a:srgbClr val="334155"/>
                </a:solidFill>
                <a:latin typeface="Inter"/>
              </a:rPr>
              <a:t> untuk </a:t>
            </a:r>
            <a:r>
              <a:rPr lang="en-US" sz="900" dirty="0" err="1">
                <a:solidFill>
                  <a:srgbClr val="334155"/>
                </a:solidFill>
                <a:latin typeface="Inter"/>
              </a:rPr>
              <a:t>mengukur</a:t>
            </a:r>
            <a:r>
              <a:rPr lang="en-US" sz="900" dirty="0">
                <a:solidFill>
                  <a:srgbClr val="334155"/>
                </a:solidFill>
                <a:latin typeface="Inter"/>
              </a:rPr>
              <a:t> </a:t>
            </a:r>
            <a:r>
              <a:rPr lang="en-US" sz="900" dirty="0" err="1">
                <a:solidFill>
                  <a:srgbClr val="334155"/>
                </a:solidFill>
                <a:latin typeface="Inter"/>
              </a:rPr>
              <a:t>performa</a:t>
            </a:r>
            <a:r>
              <a:rPr lang="en-US" sz="900" dirty="0">
                <a:solidFill>
                  <a:srgbClr val="334155"/>
                </a:solidFill>
                <a:latin typeface="Inter"/>
              </a:rPr>
              <a:t> helpdesk</a:t>
            </a:r>
            <a:r>
              <a:rPr sz="900" b="0" i="0" u="none" dirty="0">
                <a:solidFill>
                  <a:srgbClr val="334155"/>
                </a:solidFill>
                <a:latin typeface="Inter"/>
              </a:rPr>
              <a:t>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2445" y="2680967"/>
            <a:ext cx="3031926" cy="1458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214"/>
              </a:lnSpc>
            </a:pPr>
            <a:r>
              <a:rPr sz="900" b="0" i="0" u="none" dirty="0">
                <a:solidFill>
                  <a:srgbClr val="334155"/>
                </a:solidFill>
                <a:latin typeface="Inter"/>
              </a:rPr>
              <a:t>.</a:t>
            </a:r>
          </a:p>
        </p:txBody>
      </p:sp>
      <p:pic>
        <p:nvPicPr>
          <p:cNvPr id="31" name="Picture 30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363226" y="1223962"/>
            <a:ext cx="128587" cy="123825"/>
          </a:xfrm>
          <a:prstGeom prst="rect">
            <a:avLst/>
          </a:prstGeom>
        </p:spPr>
      </p:pic>
      <p:pic>
        <p:nvPicPr>
          <p:cNvPr id="32" name="Picture 31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395724" y="1223962"/>
            <a:ext cx="128587" cy="123825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8521749" y="1533525"/>
            <a:ext cx="3032075" cy="3083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214"/>
              </a:lnSpc>
            </a:pPr>
            <a:r>
              <a:rPr sz="900" b="1" i="0" u="none">
                <a:solidFill>
                  <a:srgbClr val="334155"/>
                </a:solidFill>
                <a:latin typeface="Inter"/>
              </a:rPr>
              <a:t>Deployment GLPI Server:</a:t>
            </a:r>
            <a:r>
              <a:rPr sz="900" b="0" i="0" u="none">
                <a:solidFill>
                  <a:srgbClr val="334155"/>
                </a:solidFill>
                <a:latin typeface="Inter"/>
              </a:rPr>
              <a:t> Helpdesk &amp; Asset Management.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21749" y="1747588"/>
            <a:ext cx="3032075" cy="1541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214"/>
              </a:lnSpc>
            </a:pPr>
            <a:r>
              <a:rPr sz="900" b="1" i="0" u="none">
                <a:solidFill>
                  <a:srgbClr val="334155"/>
                </a:solidFill>
                <a:latin typeface="Inter"/>
              </a:rPr>
              <a:t>Integrasi LDAP:</a:t>
            </a:r>
            <a:r>
              <a:rPr sz="900" b="0" i="0" u="none">
                <a:solidFill>
                  <a:srgbClr val="334155"/>
                </a:solidFill>
                <a:latin typeface="Inter"/>
              </a:rPr>
              <a:t> Login SSO via akun Windows/Domain.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23616" y="2155188"/>
            <a:ext cx="3032075" cy="1458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214"/>
              </a:lnSpc>
            </a:pPr>
            <a:r>
              <a:rPr lang="en-ID" sz="900" b="1" i="0" u="none" dirty="0">
                <a:solidFill>
                  <a:srgbClr val="334155"/>
                </a:solidFill>
                <a:latin typeface="Inter"/>
              </a:rPr>
              <a:t>Template </a:t>
            </a:r>
            <a:r>
              <a:rPr lang="en-ID" sz="900" b="1" i="0" u="none" dirty="0" err="1">
                <a:solidFill>
                  <a:srgbClr val="334155"/>
                </a:solidFill>
                <a:latin typeface="Inter"/>
              </a:rPr>
              <a:t>Tiket</a:t>
            </a:r>
            <a:r>
              <a:rPr lang="en-ID" sz="900" b="1" i="0" u="none" dirty="0">
                <a:solidFill>
                  <a:srgbClr val="334155"/>
                </a:solidFill>
                <a:latin typeface="Inter"/>
              </a:rPr>
              <a:t> Custom: </a:t>
            </a:r>
            <a:r>
              <a:rPr lang="en-ID" sz="900" i="0" u="none" dirty="0" err="1">
                <a:solidFill>
                  <a:srgbClr val="334155"/>
                </a:solidFill>
                <a:latin typeface="Inter"/>
              </a:rPr>
              <a:t>Formulir</a:t>
            </a:r>
            <a:r>
              <a:rPr lang="en-ID" sz="900" i="0" u="none" dirty="0">
                <a:solidFill>
                  <a:srgbClr val="334155"/>
                </a:solidFill>
                <a:latin typeface="Inter"/>
              </a:rPr>
              <a:t> </a:t>
            </a:r>
            <a:r>
              <a:rPr lang="en-ID" sz="900" i="0" u="none" dirty="0" err="1">
                <a:solidFill>
                  <a:srgbClr val="334155"/>
                </a:solidFill>
                <a:latin typeface="Inter"/>
              </a:rPr>
              <a:t>pembuatan</a:t>
            </a:r>
            <a:r>
              <a:rPr lang="en-ID" sz="900" i="0" u="none" dirty="0">
                <a:solidFill>
                  <a:srgbClr val="334155"/>
                </a:solidFill>
                <a:latin typeface="Inter"/>
              </a:rPr>
              <a:t> </a:t>
            </a:r>
            <a:r>
              <a:rPr lang="en-ID" sz="900" i="0" u="none" dirty="0" err="1">
                <a:solidFill>
                  <a:srgbClr val="334155"/>
                </a:solidFill>
                <a:latin typeface="Inter"/>
              </a:rPr>
              <a:t>tiket</a:t>
            </a:r>
            <a:r>
              <a:rPr lang="en-ID" sz="900" i="0" u="none" dirty="0">
                <a:solidFill>
                  <a:srgbClr val="334155"/>
                </a:solidFill>
                <a:latin typeface="Inter"/>
              </a:rPr>
              <a:t>.</a:t>
            </a:r>
            <a:r>
              <a:rPr sz="900" b="0" i="0" u="none" dirty="0">
                <a:solidFill>
                  <a:srgbClr val="334155"/>
                </a:solidFill>
                <a:latin typeface="Inter"/>
              </a:rPr>
              <a:t>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21749" y="1944250"/>
            <a:ext cx="3032075" cy="1541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214"/>
              </a:lnSpc>
            </a:pPr>
            <a:r>
              <a:rPr sz="900" b="1" i="0" u="none" dirty="0">
                <a:solidFill>
                  <a:srgbClr val="334155"/>
                </a:solidFill>
                <a:latin typeface="Inter"/>
              </a:rPr>
              <a:t>Auto-Assign:</a:t>
            </a:r>
            <a:r>
              <a:rPr sz="900" b="0" i="0" u="none" dirty="0">
                <a:solidFill>
                  <a:srgbClr val="334155"/>
                </a:solidFill>
                <a:latin typeface="Inter"/>
              </a:rPr>
              <a:t> </a:t>
            </a:r>
            <a:r>
              <a:rPr sz="900" b="0" i="0" u="none" dirty="0" err="1">
                <a:solidFill>
                  <a:srgbClr val="334155"/>
                </a:solidFill>
                <a:latin typeface="Inter"/>
              </a:rPr>
              <a:t>Tiket</a:t>
            </a:r>
            <a:r>
              <a:rPr sz="900" b="0" i="0" u="none" dirty="0">
                <a:solidFill>
                  <a:srgbClr val="334155"/>
                </a:solidFill>
                <a:latin typeface="Inter"/>
              </a:rPr>
              <a:t> </a:t>
            </a:r>
            <a:r>
              <a:rPr sz="900" b="0" i="0" u="none" dirty="0" err="1">
                <a:solidFill>
                  <a:srgbClr val="334155"/>
                </a:solidFill>
                <a:latin typeface="Inter"/>
              </a:rPr>
              <a:t>otomatis</a:t>
            </a:r>
            <a:r>
              <a:rPr sz="900" b="0" i="0" u="none" dirty="0">
                <a:solidFill>
                  <a:srgbClr val="334155"/>
                </a:solidFill>
                <a:latin typeface="Inter"/>
              </a:rPr>
              <a:t> </a:t>
            </a:r>
            <a:r>
              <a:rPr sz="900" b="0" i="0" u="none" dirty="0" err="1">
                <a:solidFill>
                  <a:srgbClr val="334155"/>
                </a:solidFill>
                <a:latin typeface="Inter"/>
              </a:rPr>
              <a:t>terbagi</a:t>
            </a:r>
            <a:r>
              <a:rPr sz="900" b="0" i="0" u="none" dirty="0">
                <a:solidFill>
                  <a:srgbClr val="334155"/>
                </a:solidFill>
                <a:latin typeface="Inter"/>
              </a:rPr>
              <a:t> </a:t>
            </a:r>
            <a:r>
              <a:rPr sz="900" b="0" i="0" u="none" dirty="0" err="1">
                <a:solidFill>
                  <a:srgbClr val="334155"/>
                </a:solidFill>
                <a:latin typeface="Inter"/>
              </a:rPr>
              <a:t>ke</a:t>
            </a:r>
            <a:r>
              <a:rPr sz="900" b="0" i="0" u="none" dirty="0">
                <a:solidFill>
                  <a:srgbClr val="334155"/>
                </a:solidFill>
                <a:latin typeface="Inter"/>
              </a:rPr>
              <a:t> PIC area.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21749" y="2590114"/>
            <a:ext cx="3032075" cy="1541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214"/>
              </a:lnSpc>
            </a:pPr>
            <a:r>
              <a:rPr sz="900" b="1" i="0" u="none" dirty="0">
                <a:solidFill>
                  <a:srgbClr val="334155"/>
                </a:solidFill>
                <a:latin typeface="Inter"/>
              </a:rPr>
              <a:t>CSAT Survey:</a:t>
            </a:r>
            <a:r>
              <a:rPr sz="900" b="0" i="0" u="none" dirty="0">
                <a:solidFill>
                  <a:srgbClr val="334155"/>
                </a:solidFill>
                <a:latin typeface="Inter"/>
              </a:rPr>
              <a:t> </a:t>
            </a:r>
            <a:r>
              <a:rPr sz="900" b="0" i="0" u="none" dirty="0" err="1">
                <a:solidFill>
                  <a:srgbClr val="334155"/>
                </a:solidFill>
                <a:latin typeface="Inter"/>
              </a:rPr>
              <a:t>Evaluasi</a:t>
            </a:r>
            <a:r>
              <a:rPr sz="900" b="0" i="0" u="none" dirty="0">
                <a:solidFill>
                  <a:srgbClr val="334155"/>
                </a:solidFill>
                <a:latin typeface="Inter"/>
              </a:rPr>
              <a:t> </a:t>
            </a:r>
            <a:r>
              <a:rPr sz="900" b="0" i="0" u="none" dirty="0" err="1">
                <a:solidFill>
                  <a:srgbClr val="334155"/>
                </a:solidFill>
                <a:latin typeface="Inter"/>
              </a:rPr>
              <a:t>tingkat</a:t>
            </a:r>
            <a:r>
              <a:rPr sz="900" b="0" i="0" u="none" dirty="0">
                <a:solidFill>
                  <a:srgbClr val="334155"/>
                </a:solidFill>
                <a:latin typeface="Inter"/>
              </a:rPr>
              <a:t> </a:t>
            </a:r>
            <a:r>
              <a:rPr sz="900" b="0" i="0" u="none" dirty="0" err="1">
                <a:solidFill>
                  <a:srgbClr val="334155"/>
                </a:solidFill>
                <a:latin typeface="Inter"/>
              </a:rPr>
              <a:t>kepuasan</a:t>
            </a:r>
            <a:r>
              <a:rPr sz="900" b="0" i="0" u="none" dirty="0">
                <a:solidFill>
                  <a:srgbClr val="334155"/>
                </a:solidFill>
                <a:latin typeface="Inter"/>
              </a:rPr>
              <a:t> </a:t>
            </a:r>
            <a:r>
              <a:rPr sz="900" b="0" i="0" u="none" dirty="0" err="1">
                <a:solidFill>
                  <a:srgbClr val="334155"/>
                </a:solidFill>
                <a:latin typeface="Inter"/>
              </a:rPr>
              <a:t>layanan</a:t>
            </a:r>
            <a:r>
              <a:rPr sz="900" b="0" i="0" u="none" dirty="0">
                <a:solidFill>
                  <a:srgbClr val="334155"/>
                </a:solidFill>
                <a:latin typeface="Inter"/>
              </a:rPr>
              <a:t>.</a:t>
            </a:r>
          </a:p>
        </p:txBody>
      </p:sp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90575" y="4624982"/>
            <a:ext cx="142875" cy="142875"/>
          </a:xfrm>
          <a:prstGeom prst="rect">
            <a:avLst/>
          </a:prstGeom>
        </p:spPr>
      </p:pic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467225" y="4624982"/>
            <a:ext cx="180975" cy="142875"/>
          </a:xfrm>
          <a:prstGeom prst="rect">
            <a:avLst/>
          </a:prstGeom>
        </p:spPr>
      </p:pic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143875" y="4624982"/>
            <a:ext cx="161925" cy="142875"/>
          </a:xfrm>
          <a:prstGeom prst="rect">
            <a:avLst/>
          </a:prstGeom>
        </p:spPr>
      </p:pic>
      <p:pic>
        <p:nvPicPr>
          <p:cNvPr id="42" name="Picture 41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790575" y="5406330"/>
            <a:ext cx="161925" cy="142875"/>
          </a:xfrm>
          <a:prstGeom prst="rect">
            <a:avLst/>
          </a:prstGeom>
        </p:spPr>
      </p:pic>
      <p:pic>
        <p:nvPicPr>
          <p:cNvPr id="43" name="Picture 42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4467225" y="5406330"/>
            <a:ext cx="142875" cy="142875"/>
          </a:xfrm>
          <a:prstGeom prst="rect">
            <a:avLst/>
          </a:prstGeom>
        </p:spPr>
      </p:pic>
      <p:pic>
        <p:nvPicPr>
          <p:cNvPr id="44" name="Picture 43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8143875" y="5406330"/>
            <a:ext cx="123825" cy="142875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4422576" y="2847975"/>
            <a:ext cx="1520874" cy="7197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417"/>
              </a:lnSpc>
            </a:pPr>
            <a:r>
              <a:rPr sz="1012" b="0" i="0" u="none">
                <a:solidFill>
                  <a:srgbClr val="475569"/>
                </a:solidFill>
                <a:latin typeface="Inter Medium"/>
              </a:rPr>
              <a:t>Permintaan support manual via email, telepon &amp; lisan (tak terpusat).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248251" y="2847975"/>
            <a:ext cx="1521023" cy="5397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417"/>
              </a:lnSpc>
            </a:pPr>
            <a:r>
              <a:rPr lang="sv-SE" sz="1012" b="0" i="0" u="none" dirty="0">
                <a:solidFill>
                  <a:srgbClr val="475569"/>
                </a:solidFill>
                <a:latin typeface="Inter Medium"/>
              </a:rPr>
              <a:t>Penanganan permintaan otomatis, SLA tracking, &amp; inventaris aset terintegrasi</a:t>
            </a:r>
            <a:endParaRPr sz="1012" b="0" i="0" u="none" dirty="0">
              <a:solidFill>
                <a:srgbClr val="475569"/>
              </a:solidFill>
              <a:latin typeface="Inter Medium"/>
            </a:endParaRPr>
          </a:p>
        </p:txBody>
      </p:sp>
      <p:pic>
        <p:nvPicPr>
          <p:cNvPr id="49" name="Picture 48" descr="imag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8350299" y="1571892"/>
            <a:ext cx="57150" cy="85725"/>
          </a:xfrm>
          <a:prstGeom prst="rect">
            <a:avLst/>
          </a:prstGeom>
        </p:spPr>
      </p:pic>
      <p:pic>
        <p:nvPicPr>
          <p:cNvPr id="50" name="Picture 49" descr="imag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8350299" y="1779516"/>
            <a:ext cx="57150" cy="85725"/>
          </a:xfrm>
          <a:prstGeom prst="rect">
            <a:avLst/>
          </a:prstGeom>
        </p:spPr>
      </p:pic>
      <p:pic>
        <p:nvPicPr>
          <p:cNvPr id="51" name="Picture 50" descr="imag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8350299" y="2180677"/>
            <a:ext cx="57150" cy="85725"/>
          </a:xfrm>
          <a:prstGeom prst="rect">
            <a:avLst/>
          </a:prstGeom>
        </p:spPr>
      </p:pic>
      <p:pic>
        <p:nvPicPr>
          <p:cNvPr id="52" name="Picture 51" descr="imag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8350299" y="1982617"/>
            <a:ext cx="57150" cy="85725"/>
          </a:xfrm>
          <a:prstGeom prst="rect">
            <a:avLst/>
          </a:prstGeom>
        </p:spPr>
      </p:pic>
      <p:pic>
        <p:nvPicPr>
          <p:cNvPr id="53" name="Picture 52" descr="imag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8350299" y="2609164"/>
            <a:ext cx="57150" cy="85725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028700" y="4605932"/>
            <a:ext cx="3200400" cy="1428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 u="none" dirty="0">
                <a:solidFill>
                  <a:srgbClr val="0F172A"/>
                </a:solidFill>
                <a:latin typeface="Inter"/>
              </a:rPr>
              <a:t>Centralized Service Desk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28700" y="4767857"/>
            <a:ext cx="3048000" cy="2955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164"/>
              </a:lnSpc>
            </a:pPr>
            <a:r>
              <a:rPr sz="862" b="0" i="0" u="none">
                <a:solidFill>
                  <a:srgbClr val="64748B"/>
                </a:solidFill>
                <a:latin typeface="Inter"/>
              </a:rPr>
              <a:t>Seluruh keluhan &amp; request IT tercatat rapi secara real-time dalam satu sistem.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743450" y="4605932"/>
            <a:ext cx="3160395" cy="1428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 u="none">
                <a:solidFill>
                  <a:srgbClr val="0F172A"/>
                </a:solidFill>
                <a:latin typeface="Inter"/>
              </a:rPr>
              <a:t>Automated Notification &amp; SLA Alert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743450" y="4767857"/>
            <a:ext cx="3009900" cy="2955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164"/>
              </a:lnSpc>
            </a:pPr>
            <a:r>
              <a:rPr sz="862" b="0" i="0" u="none">
                <a:solidFill>
                  <a:srgbClr val="64748B"/>
                </a:solidFill>
                <a:latin typeface="Inter"/>
              </a:rPr>
              <a:t>Email otomatis ke teknisi &amp; user saat tiket dibuat / pergerakan status.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401050" y="4605932"/>
            <a:ext cx="3180397" cy="1428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 u="none">
                <a:solidFill>
                  <a:srgbClr val="0F172A"/>
                </a:solidFill>
                <a:latin typeface="Inter"/>
              </a:rPr>
              <a:t>Transparansi Layanan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01050" y="4767857"/>
            <a:ext cx="3028950" cy="2955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164"/>
              </a:lnSpc>
            </a:pPr>
            <a:r>
              <a:rPr sz="862" b="0" i="0" u="none" dirty="0">
                <a:solidFill>
                  <a:srgbClr val="64748B"/>
                </a:solidFill>
                <a:latin typeface="Inter"/>
              </a:rPr>
              <a:t>User </a:t>
            </a:r>
            <a:r>
              <a:rPr sz="862" b="0" i="0" u="none" dirty="0" err="1">
                <a:solidFill>
                  <a:srgbClr val="64748B"/>
                </a:solidFill>
                <a:latin typeface="Inter"/>
              </a:rPr>
              <a:t>dapat</a:t>
            </a:r>
            <a:r>
              <a:rPr sz="862" b="0" i="0" u="none" dirty="0">
                <a:solidFill>
                  <a:srgbClr val="64748B"/>
                </a:solidFill>
                <a:latin typeface="Inter"/>
              </a:rPr>
              <a:t> </a:t>
            </a:r>
            <a:r>
              <a:rPr sz="862" b="0" i="0" u="none" dirty="0" err="1">
                <a:solidFill>
                  <a:srgbClr val="64748B"/>
                </a:solidFill>
                <a:latin typeface="Inter"/>
              </a:rPr>
              <a:t>memantau</a:t>
            </a:r>
            <a:r>
              <a:rPr sz="862" b="0" i="0" u="none" dirty="0">
                <a:solidFill>
                  <a:srgbClr val="64748B"/>
                </a:solidFill>
                <a:latin typeface="Inter"/>
              </a:rPr>
              <a:t> status </a:t>
            </a:r>
            <a:r>
              <a:rPr sz="862" b="0" i="0" u="none" dirty="0" err="1">
                <a:solidFill>
                  <a:srgbClr val="64748B"/>
                </a:solidFill>
                <a:latin typeface="Inter"/>
              </a:rPr>
              <a:t>pengerjaan</a:t>
            </a:r>
            <a:r>
              <a:rPr sz="862" b="0" i="0" u="none" dirty="0">
                <a:solidFill>
                  <a:srgbClr val="64748B"/>
                </a:solidFill>
                <a:latin typeface="Inter"/>
              </a:rPr>
              <a:t> </a:t>
            </a:r>
            <a:r>
              <a:rPr sz="862" b="0" i="0" u="none" dirty="0" err="1">
                <a:solidFill>
                  <a:srgbClr val="64748B"/>
                </a:solidFill>
                <a:latin typeface="Inter"/>
              </a:rPr>
              <a:t>tiket</a:t>
            </a:r>
            <a:r>
              <a:rPr sz="862" b="0" i="0" u="none" dirty="0">
                <a:solidFill>
                  <a:srgbClr val="64748B"/>
                </a:solidFill>
                <a:latin typeface="Inter"/>
              </a:rPr>
              <a:t> </a:t>
            </a:r>
            <a:r>
              <a:rPr sz="862" b="0" i="0" u="none" dirty="0" err="1">
                <a:solidFill>
                  <a:srgbClr val="64748B"/>
                </a:solidFill>
                <a:latin typeface="Inter"/>
              </a:rPr>
              <a:t>secara</a:t>
            </a:r>
            <a:r>
              <a:rPr sz="862" b="0" i="0" u="none" dirty="0">
                <a:solidFill>
                  <a:srgbClr val="64748B"/>
                </a:solidFill>
                <a:latin typeface="Inter"/>
              </a:rPr>
              <a:t> </a:t>
            </a:r>
            <a:r>
              <a:rPr sz="862" b="0" i="0" u="none" dirty="0" err="1">
                <a:solidFill>
                  <a:srgbClr val="64748B"/>
                </a:solidFill>
                <a:latin typeface="Inter"/>
              </a:rPr>
              <a:t>mandiri</a:t>
            </a:r>
            <a:r>
              <a:rPr sz="862" b="0" i="0" u="none" dirty="0">
                <a:solidFill>
                  <a:srgbClr val="64748B"/>
                </a:solidFill>
                <a:latin typeface="Inter"/>
              </a:rPr>
              <a:t> &amp; real-time.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47750" y="5387280"/>
            <a:ext cx="3180397" cy="1428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 u="none">
                <a:solidFill>
                  <a:srgbClr val="0F172A"/>
                </a:solidFill>
                <a:latin typeface="Inter"/>
              </a:rPr>
              <a:t>Asset Problem Tracking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47750" y="5549205"/>
            <a:ext cx="3028950" cy="2955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164"/>
              </a:lnSpc>
            </a:pPr>
            <a:r>
              <a:rPr sz="862" b="0" i="0" u="none">
                <a:solidFill>
                  <a:srgbClr val="64748B"/>
                </a:solidFill>
                <a:latin typeface="Inter"/>
              </a:rPr>
              <a:t>Kerusakan berulang perangkat cepat terdeteksi untuk evaluasi replacement.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705350" y="5387280"/>
            <a:ext cx="3200400" cy="1428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 u="none">
                <a:solidFill>
                  <a:srgbClr val="0F172A"/>
                </a:solidFill>
                <a:latin typeface="Inter"/>
              </a:rPr>
              <a:t>Real-time Analytics Dashboard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05350" y="5549205"/>
            <a:ext cx="3048000" cy="2955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164"/>
              </a:lnSpc>
            </a:pPr>
            <a:r>
              <a:rPr sz="862" b="0" i="0" u="none">
                <a:solidFill>
                  <a:srgbClr val="64748B"/>
                </a:solidFill>
                <a:latin typeface="Inter"/>
              </a:rPr>
              <a:t>Pemantauan performa IT &amp; SLA resolution time secara transparan.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362950" y="5387280"/>
            <a:ext cx="3220402" cy="1428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ID" sz="900" b="1" i="0" u="none" dirty="0">
                <a:solidFill>
                  <a:srgbClr val="0F172A"/>
                </a:solidFill>
                <a:latin typeface="Inter"/>
              </a:rPr>
              <a:t>Service Response Optimization</a:t>
            </a:r>
            <a:endParaRPr sz="900" b="1" i="0" u="none" dirty="0">
              <a:solidFill>
                <a:srgbClr val="0F172A"/>
              </a:solidFill>
              <a:latin typeface="Inter"/>
            </a:endParaRPr>
          </a:p>
        </p:txBody>
      </p:sp>
      <p:sp>
        <p:nvSpPr>
          <p:cNvPr id="66" name="TextBox 65"/>
          <p:cNvSpPr txBox="1"/>
          <p:nvPr/>
        </p:nvSpPr>
        <p:spPr>
          <a:xfrm>
            <a:off x="8362950" y="5549205"/>
            <a:ext cx="3067050" cy="298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164"/>
              </a:lnSpc>
            </a:pPr>
            <a:r>
              <a:rPr lang="en-ID" sz="862" b="0" i="0" u="none" dirty="0" err="1">
                <a:solidFill>
                  <a:srgbClr val="64748B"/>
                </a:solidFill>
                <a:latin typeface="Inter"/>
              </a:rPr>
              <a:t>Penanganan</a:t>
            </a:r>
            <a:r>
              <a:rPr lang="en-ID" sz="862" b="0" i="0" u="none" dirty="0">
                <a:solidFill>
                  <a:srgbClr val="64748B"/>
                </a:solidFill>
                <a:latin typeface="Inter"/>
              </a:rPr>
              <a:t> </a:t>
            </a:r>
            <a:r>
              <a:rPr lang="en-ID" sz="862" b="0" i="0" u="none" dirty="0" err="1">
                <a:solidFill>
                  <a:srgbClr val="64748B"/>
                </a:solidFill>
                <a:latin typeface="Inter"/>
              </a:rPr>
              <a:t>keluhan</a:t>
            </a:r>
            <a:r>
              <a:rPr lang="en-ID" sz="862" b="0" i="0" u="none" dirty="0">
                <a:solidFill>
                  <a:srgbClr val="64748B"/>
                </a:solidFill>
                <a:latin typeface="Inter"/>
              </a:rPr>
              <a:t> IT </a:t>
            </a:r>
            <a:r>
              <a:rPr lang="en-ID" sz="862" b="0" i="0" u="none" dirty="0" err="1">
                <a:solidFill>
                  <a:srgbClr val="64748B"/>
                </a:solidFill>
                <a:latin typeface="Inter"/>
              </a:rPr>
              <a:t>menjadi</a:t>
            </a:r>
            <a:r>
              <a:rPr lang="en-ID" sz="862" b="0" i="0" u="none" dirty="0">
                <a:solidFill>
                  <a:srgbClr val="64748B"/>
                </a:solidFill>
                <a:latin typeface="Inter"/>
              </a:rPr>
              <a:t> </a:t>
            </a:r>
            <a:r>
              <a:rPr lang="en-ID" sz="862" b="0" i="0" u="none" dirty="0" err="1">
                <a:solidFill>
                  <a:srgbClr val="64748B"/>
                </a:solidFill>
                <a:latin typeface="Inter"/>
              </a:rPr>
              <a:t>lebih</a:t>
            </a:r>
            <a:r>
              <a:rPr lang="en-ID" sz="862" b="0" i="0" u="none" dirty="0">
                <a:solidFill>
                  <a:srgbClr val="64748B"/>
                </a:solidFill>
                <a:latin typeface="Inter"/>
              </a:rPr>
              <a:t> </a:t>
            </a:r>
            <a:r>
              <a:rPr lang="en-ID" sz="862" b="0" i="0" u="none" dirty="0" err="1">
                <a:solidFill>
                  <a:srgbClr val="64748B"/>
                </a:solidFill>
                <a:latin typeface="Inter"/>
              </a:rPr>
              <a:t>cepat</a:t>
            </a:r>
            <a:r>
              <a:rPr lang="en-ID" sz="862" b="0" i="0" u="none" dirty="0">
                <a:solidFill>
                  <a:srgbClr val="64748B"/>
                </a:solidFill>
                <a:latin typeface="Inter"/>
              </a:rPr>
              <a:t>, </a:t>
            </a:r>
            <a:r>
              <a:rPr lang="en-ID" sz="862" b="0" i="0" u="none" dirty="0" err="1">
                <a:solidFill>
                  <a:srgbClr val="64748B"/>
                </a:solidFill>
                <a:latin typeface="Inter"/>
              </a:rPr>
              <a:t>terukur</a:t>
            </a:r>
            <a:r>
              <a:rPr lang="en-ID" sz="862" b="0" i="0" u="none" dirty="0">
                <a:solidFill>
                  <a:srgbClr val="64748B"/>
                </a:solidFill>
                <a:latin typeface="Inter"/>
              </a:rPr>
              <a:t>, dan </a:t>
            </a:r>
            <a:r>
              <a:rPr lang="en-ID" sz="862" b="0" i="0" u="none" dirty="0" err="1">
                <a:solidFill>
                  <a:srgbClr val="64748B"/>
                </a:solidFill>
                <a:latin typeface="Inter"/>
              </a:rPr>
              <a:t>tepat</a:t>
            </a:r>
            <a:r>
              <a:rPr lang="en-ID" sz="862" b="0" i="0" u="none" dirty="0">
                <a:solidFill>
                  <a:srgbClr val="64748B"/>
                </a:solidFill>
                <a:latin typeface="Inter"/>
              </a:rPr>
              <a:t> </a:t>
            </a:r>
            <a:r>
              <a:rPr lang="en-ID" sz="862" b="0" i="0" u="none" dirty="0" err="1">
                <a:solidFill>
                  <a:srgbClr val="64748B"/>
                </a:solidFill>
                <a:latin typeface="Inter"/>
              </a:rPr>
              <a:t>sasaran</a:t>
            </a:r>
            <a:r>
              <a:rPr lang="en-ID" sz="862" b="0" i="0" u="none" dirty="0">
                <a:solidFill>
                  <a:srgbClr val="64748B"/>
                </a:solidFill>
                <a:latin typeface="Inter"/>
              </a:rPr>
              <a:t> </a:t>
            </a:r>
            <a:r>
              <a:rPr lang="en-ID" sz="862" b="0" i="0" u="none" dirty="0" err="1">
                <a:solidFill>
                  <a:srgbClr val="64748B"/>
                </a:solidFill>
                <a:latin typeface="Inter"/>
              </a:rPr>
              <a:t>sesuai</a:t>
            </a:r>
            <a:r>
              <a:rPr lang="en-ID" sz="862" b="0" i="0" u="none" dirty="0">
                <a:solidFill>
                  <a:srgbClr val="64748B"/>
                </a:solidFill>
                <a:latin typeface="Inter"/>
              </a:rPr>
              <a:t> </a:t>
            </a:r>
            <a:r>
              <a:rPr lang="en-ID" sz="862" b="0" i="0" u="none" dirty="0" err="1">
                <a:solidFill>
                  <a:srgbClr val="64748B"/>
                </a:solidFill>
                <a:latin typeface="Inter"/>
              </a:rPr>
              <a:t>tingkat</a:t>
            </a:r>
            <a:r>
              <a:rPr lang="en-ID" sz="862" b="0" i="0" u="none" dirty="0">
                <a:solidFill>
                  <a:srgbClr val="64748B"/>
                </a:solidFill>
                <a:latin typeface="Inter"/>
              </a:rPr>
              <a:t> </a:t>
            </a:r>
            <a:r>
              <a:rPr lang="en-ID" sz="862" b="0" i="0" u="none" dirty="0" err="1">
                <a:solidFill>
                  <a:srgbClr val="64748B"/>
                </a:solidFill>
                <a:latin typeface="Inter"/>
              </a:rPr>
              <a:t>prioritas</a:t>
            </a:r>
            <a:r>
              <a:rPr lang="en-ID" sz="862" b="0" i="0" u="none" dirty="0">
                <a:solidFill>
                  <a:srgbClr val="64748B"/>
                </a:solidFill>
                <a:latin typeface="Inter"/>
              </a:rPr>
              <a:t> </a:t>
            </a:r>
            <a:r>
              <a:rPr lang="en-ID" sz="862" b="0" i="0" u="none" dirty="0" err="1">
                <a:solidFill>
                  <a:srgbClr val="64748B"/>
                </a:solidFill>
                <a:latin typeface="Inter"/>
              </a:rPr>
              <a:t>masalah</a:t>
            </a:r>
            <a:r>
              <a:rPr lang="en-ID" sz="862" b="0" i="0" u="none" dirty="0">
                <a:solidFill>
                  <a:srgbClr val="64748B"/>
                </a:solidFill>
                <a:latin typeface="Inter"/>
              </a:rPr>
              <a:t>.</a:t>
            </a:r>
            <a:endParaRPr sz="862" b="0" i="0" u="none" dirty="0">
              <a:solidFill>
                <a:srgbClr val="64748B"/>
              </a:solidFill>
              <a:latin typeface="Inter"/>
            </a:endParaRPr>
          </a:p>
        </p:txBody>
      </p:sp>
      <p:sp>
        <p:nvSpPr>
          <p:cNvPr id="70" name="TextBox 69"/>
          <p:cNvSpPr txBox="1"/>
          <p:nvPr/>
        </p:nvSpPr>
        <p:spPr>
          <a:xfrm>
            <a:off x="476250" y="441975"/>
            <a:ext cx="11239500" cy="300082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l"/>
            <a:r>
              <a:rPr lang="en-US" sz="1950" b="1" dirty="0">
                <a:solidFill>
                  <a:srgbClr val="0F172A"/>
                </a:solidFill>
                <a:latin typeface="Inter"/>
              </a:rPr>
              <a:t>PROJECT &amp; KAIZEN - </a:t>
            </a:r>
            <a:r>
              <a:rPr sz="1950" b="1" i="0" u="none" dirty="0">
                <a:solidFill>
                  <a:srgbClr val="0F172A"/>
                </a:solidFill>
                <a:latin typeface="Inter"/>
              </a:rPr>
              <a:t>GLPI TICKETING SYSTE</a:t>
            </a:r>
            <a:r>
              <a:rPr lang="en-US" sz="1950" b="1" i="0" u="none" dirty="0">
                <a:solidFill>
                  <a:srgbClr val="0F172A"/>
                </a:solidFill>
                <a:latin typeface="Inter"/>
              </a:rPr>
              <a:t>M</a:t>
            </a:r>
            <a:endParaRPr sz="1950" b="1" i="0" u="none" dirty="0">
              <a:solidFill>
                <a:srgbClr val="0F172A"/>
              </a:solidFill>
              <a:latin typeface="Inter"/>
            </a:endParaRPr>
          </a:p>
        </p:txBody>
      </p:sp>
      <p:sp>
        <p:nvSpPr>
          <p:cNvPr id="71" name="Rectangle 70"/>
          <p:cNvSpPr/>
          <p:nvPr/>
        </p:nvSpPr>
        <p:spPr>
          <a:xfrm>
            <a:off x="476250" y="752475"/>
            <a:ext cx="11239500" cy="28575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2" name="Picture 71" descr="imag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38175" y="1552575"/>
            <a:ext cx="57150" cy="85725"/>
          </a:xfrm>
          <a:prstGeom prst="rect">
            <a:avLst/>
          </a:prstGeom>
        </p:spPr>
      </p:pic>
      <p:pic>
        <p:nvPicPr>
          <p:cNvPr id="73" name="Picture 72" descr="imag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38175" y="1927621"/>
            <a:ext cx="57150" cy="85725"/>
          </a:xfrm>
          <a:prstGeom prst="rect">
            <a:avLst/>
          </a:prstGeom>
        </p:spPr>
      </p:pic>
      <p:pic>
        <p:nvPicPr>
          <p:cNvPr id="74" name="Picture 73" descr="imag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38175" y="2364213"/>
            <a:ext cx="57150" cy="85725"/>
          </a:xfrm>
          <a:prstGeom prst="rect">
            <a:avLst/>
          </a:prstGeom>
        </p:spPr>
      </p:pic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9353550" y="447675"/>
            <a:ext cx="2362200" cy="228600"/>
          </a:xfrm>
          <a:prstGeom prst="rect">
            <a:avLst/>
          </a:prstGeom>
        </p:spPr>
      </p:pic>
      <p:pic>
        <p:nvPicPr>
          <p:cNvPr id="77" name="Picture 76">
            <a:extLst>
              <a:ext uri="{FF2B5EF4-FFF2-40B4-BE49-F238E27FC236}">
                <a16:creationId xmlns:a16="http://schemas.microsoft.com/office/drawing/2014/main" id="{4F7E116B-973E-A5EB-98C7-DA12BCD3C13F}"/>
              </a:ext>
            </a:extLst>
      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4406431" y="1898965"/>
            <a:ext cx="1575119" cy="859155"/>
          </a:xfrm>
          <a:prstGeom prst="rect">
            <a:avLst/>
          </a:prstGeom>
        </p:spPr>
      </p:pic>
      <p:pic>
        <p:nvPicPr>
          <p:cNvPr id="78" name="Picture 4" descr="GLPI Software Pricing, Alternatives &amp; More 2026 | Capterra">
            <a:extLst>
              <a:ext uri="{FF2B5EF4-FFF2-40B4-BE49-F238E27FC236}">
                <a16:creationId xmlns:a16="http://schemas.microsoft.com/office/drawing/2014/main" id="{8B89D6C0-E22F-24D6-26D3-18E639059C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29350" y="1933575"/>
            <a:ext cx="1600787" cy="8087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CED9AE07-C5CC-D9F7-6DEB-54F3D3E0778D}"/>
              </a:ext>
            </a:extLst>
          </p:cNvPr>
          <p:cNvSpPr txBox="1"/>
          <p:nvPr/>
        </p:nvSpPr>
        <p:spPr>
          <a:xfrm>
            <a:off x="8527913" y="2365537"/>
            <a:ext cx="3032075" cy="3083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214"/>
              </a:lnSpc>
            </a:pPr>
            <a:r>
              <a:rPr sz="900" b="1" i="0" u="none" dirty="0">
                <a:solidFill>
                  <a:srgbClr val="334155"/>
                </a:solidFill>
                <a:latin typeface="Inter"/>
              </a:rPr>
              <a:t>SLA &amp; </a:t>
            </a:r>
            <a:r>
              <a:rPr sz="900" b="1" i="0" u="none" dirty="0" err="1">
                <a:solidFill>
                  <a:srgbClr val="334155"/>
                </a:solidFill>
                <a:latin typeface="Inter"/>
              </a:rPr>
              <a:t>Notifikasi</a:t>
            </a:r>
            <a:r>
              <a:rPr sz="900" b="1" i="0" u="none" dirty="0">
                <a:solidFill>
                  <a:srgbClr val="334155"/>
                </a:solidFill>
                <a:latin typeface="Inter"/>
              </a:rPr>
              <a:t>:</a:t>
            </a:r>
            <a:r>
              <a:rPr sz="900" b="0" i="0" u="none" dirty="0">
                <a:solidFill>
                  <a:srgbClr val="334155"/>
                </a:solidFill>
                <a:latin typeface="Inter"/>
              </a:rPr>
              <a:t> </a:t>
            </a:r>
            <a:r>
              <a:rPr sz="900" b="0" i="0" u="none" dirty="0" err="1">
                <a:solidFill>
                  <a:srgbClr val="334155"/>
                </a:solidFill>
                <a:latin typeface="Inter"/>
              </a:rPr>
              <a:t>Pengingat</a:t>
            </a:r>
            <a:r>
              <a:rPr sz="900" b="0" i="0" u="none" dirty="0">
                <a:solidFill>
                  <a:srgbClr val="334155"/>
                </a:solidFill>
                <a:latin typeface="Inter"/>
              </a:rPr>
              <a:t> </a:t>
            </a:r>
            <a:r>
              <a:rPr sz="900" b="0" i="0" u="none" dirty="0" err="1">
                <a:solidFill>
                  <a:srgbClr val="334155"/>
                </a:solidFill>
                <a:latin typeface="Inter"/>
              </a:rPr>
              <a:t>tenggat</a:t>
            </a:r>
            <a:r>
              <a:rPr sz="900" b="0" i="0" u="none" dirty="0">
                <a:solidFill>
                  <a:srgbClr val="334155"/>
                </a:solidFill>
                <a:latin typeface="Inter"/>
              </a:rPr>
              <a:t> &amp; </a:t>
            </a:r>
            <a:r>
              <a:rPr sz="900" b="0" i="0" u="none" dirty="0" err="1">
                <a:solidFill>
                  <a:srgbClr val="334155"/>
                </a:solidFill>
                <a:latin typeface="Inter"/>
              </a:rPr>
              <a:t>pembaruan</a:t>
            </a:r>
            <a:r>
              <a:rPr sz="900" b="0" i="0" u="none" dirty="0">
                <a:solidFill>
                  <a:srgbClr val="334155"/>
                </a:solidFill>
                <a:latin typeface="Inter"/>
              </a:rPr>
              <a:t> email.</a:t>
            </a:r>
          </a:p>
        </p:txBody>
      </p:sp>
      <p:pic>
        <p:nvPicPr>
          <p:cNvPr id="16" name="Picture 15" descr="image.png">
            <a:extLst>
              <a:ext uri="{FF2B5EF4-FFF2-40B4-BE49-F238E27FC236}">
                <a16:creationId xmlns:a16="http://schemas.microsoft.com/office/drawing/2014/main" id="{9A02FAE0-A9CB-BFC2-D927-AB69A9715B91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8354596" y="2391026"/>
            <a:ext cx="57150" cy="85725"/>
          </a:xfrm>
          <a:prstGeom prst="rect">
            <a:avLst/>
          </a:prstGeom>
        </p:spPr>
      </p:pic>
      <p:grpSp>
        <p:nvGrpSpPr>
          <p:cNvPr id="69" name="Group 68">
            <a:extLst>
              <a:ext uri="{FF2B5EF4-FFF2-40B4-BE49-F238E27FC236}">
                <a16:creationId xmlns:a16="http://schemas.microsoft.com/office/drawing/2014/main" id="{90C2B70B-1A70-A8F0-B398-3910E6218AE5}"/>
              </a:ext>
            </a:extLst>
          </p:cNvPr>
          <p:cNvGrpSpPr/>
          <p:nvPr/>
        </p:nvGrpSpPr>
        <p:grpSpPr>
          <a:xfrm>
            <a:off x="636631" y="1131078"/>
            <a:ext cx="3203376" cy="289947"/>
            <a:chOff x="636631" y="1485247"/>
            <a:chExt cx="3203376" cy="289947"/>
          </a:xfrm>
        </p:grpSpPr>
        <p:sp>
          <p:nvSpPr>
            <p:cNvPr id="17" name="Rectangle: Rounded Corners 16">
              <a:extLst>
                <a:ext uri="{FF2B5EF4-FFF2-40B4-BE49-F238E27FC236}">
                  <a16:creationId xmlns:a16="http://schemas.microsoft.com/office/drawing/2014/main" id="{DAE15036-53F4-C495-C807-2D5CC2E76B81}"/>
                </a:ext>
              </a:extLst>
            </p:cNvPr>
            <p:cNvSpPr/>
            <p:nvPr/>
          </p:nvSpPr>
          <p:spPr>
            <a:xfrm>
              <a:off x="636631" y="1485247"/>
              <a:ext cx="3203376" cy="289947"/>
            </a:xfrm>
            <a:prstGeom prst="roundRect">
              <a:avLst/>
            </a:prstGeom>
            <a:solidFill>
              <a:schemeClr val="tx1">
                <a:lumMod val="95000"/>
                <a:lumOff val="5000"/>
              </a:schemeClr>
            </a:solidFill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200" b="1" dirty="0">
                  <a:latin typeface="Inter"/>
                </a:rPr>
                <a:t>   ISSUED (KENDALA)</a:t>
              </a:r>
              <a:endParaRPr lang="en-ID" sz="1200" b="1" dirty="0">
                <a:latin typeface="Inter"/>
              </a:endParaRPr>
            </a:p>
          </p:txBody>
        </p:sp>
        <p:pic>
          <p:nvPicPr>
            <p:cNvPr id="68" name="Picture 67" descr="image.png">
              <a:extLst>
                <a:ext uri="{FF2B5EF4-FFF2-40B4-BE49-F238E27FC236}">
                  <a16:creationId xmlns:a16="http://schemas.microsoft.com/office/drawing/2014/main" id="{55B09923-0F96-612F-0327-20B2B0A1A976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683858" y="1563548"/>
              <a:ext cx="128587" cy="123825"/>
            </a:xfrm>
            <a:prstGeom prst="rect">
              <a:avLst/>
            </a:prstGeom>
          </p:spPr>
        </p:pic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14FF0CB3-EE7A-6B42-0F87-4884600591EA}"/>
              </a:ext>
            </a:extLst>
          </p:cNvPr>
          <p:cNvGrpSpPr/>
          <p:nvPr/>
        </p:nvGrpSpPr>
        <p:grpSpPr>
          <a:xfrm>
            <a:off x="4317801" y="1140900"/>
            <a:ext cx="3556248" cy="289947"/>
            <a:chOff x="650786" y="2757479"/>
            <a:chExt cx="3203376" cy="289947"/>
          </a:xfrm>
        </p:grpSpPr>
        <p:sp>
          <p:nvSpPr>
            <p:cNvPr id="79" name="Rectangle: Rounded Corners 78">
              <a:extLst>
                <a:ext uri="{FF2B5EF4-FFF2-40B4-BE49-F238E27FC236}">
                  <a16:creationId xmlns:a16="http://schemas.microsoft.com/office/drawing/2014/main" id="{AE1F41BE-4A8D-0C87-C777-25DDC11EC478}"/>
                </a:ext>
              </a:extLst>
            </p:cNvPr>
            <p:cNvSpPr/>
            <p:nvPr/>
          </p:nvSpPr>
          <p:spPr>
            <a:xfrm>
              <a:off x="650786" y="2757479"/>
              <a:ext cx="3203376" cy="289947"/>
            </a:xfrm>
            <a:prstGeom prst="roundRect">
              <a:avLst/>
            </a:prstGeom>
            <a:solidFill>
              <a:schemeClr val="tx2">
                <a:lumMod val="60000"/>
                <a:lumOff val="40000"/>
              </a:schemeClr>
            </a:solidFill>
            <a:ln>
              <a:solidFill>
                <a:schemeClr val="tx2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200" b="1" dirty="0">
                  <a:latin typeface="Inter"/>
                </a:rPr>
                <a:t>   REMARKS (BEFORE VS AFTER)</a:t>
              </a:r>
              <a:endParaRPr lang="en-ID" sz="1200" b="1" dirty="0">
                <a:latin typeface="Inter"/>
              </a:endParaRPr>
            </a:p>
          </p:txBody>
        </p:sp>
        <p:pic>
          <p:nvPicPr>
            <p:cNvPr id="81" name="Picture 80" descr="image.png">
              <a:extLst>
                <a:ext uri="{FF2B5EF4-FFF2-40B4-BE49-F238E27FC236}">
                  <a16:creationId xmlns:a16="http://schemas.microsoft.com/office/drawing/2014/main" id="{E576EF6D-93D9-7E21-5C6F-CB33602ACEDF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687953" y="2844550"/>
              <a:ext cx="128587" cy="123825"/>
            </a:xfrm>
            <a:prstGeom prst="rect">
              <a:avLst/>
            </a:prstGeom>
            <a:ln>
              <a:solidFill>
                <a:schemeClr val="tx2">
                  <a:lumMod val="60000"/>
                  <a:lumOff val="40000"/>
                </a:schemeClr>
              </a:solidFill>
            </a:ln>
          </p:spPr>
        </p:pic>
      </p:grpSp>
      <p:grpSp>
        <p:nvGrpSpPr>
          <p:cNvPr id="93" name="Group 92">
            <a:extLst>
              <a:ext uri="{FF2B5EF4-FFF2-40B4-BE49-F238E27FC236}">
                <a16:creationId xmlns:a16="http://schemas.microsoft.com/office/drawing/2014/main" id="{A4E6C439-D9C3-ABC0-59A6-31C1F09420E8}"/>
              </a:ext>
            </a:extLst>
          </p:cNvPr>
          <p:cNvGrpSpPr/>
          <p:nvPr/>
        </p:nvGrpSpPr>
        <p:grpSpPr>
          <a:xfrm>
            <a:off x="8321874" y="1142181"/>
            <a:ext cx="3203376" cy="289947"/>
            <a:chOff x="638175" y="2772660"/>
            <a:chExt cx="3203376" cy="289947"/>
          </a:xfrm>
        </p:grpSpPr>
        <p:sp>
          <p:nvSpPr>
            <p:cNvPr id="90" name="Rectangle: Rounded Corners 89">
              <a:extLst>
                <a:ext uri="{FF2B5EF4-FFF2-40B4-BE49-F238E27FC236}">
                  <a16:creationId xmlns:a16="http://schemas.microsoft.com/office/drawing/2014/main" id="{3971E033-FF35-D44B-DCBA-473598949FF6}"/>
                </a:ext>
              </a:extLst>
            </p:cNvPr>
            <p:cNvSpPr/>
            <p:nvPr/>
          </p:nvSpPr>
          <p:spPr>
            <a:xfrm>
              <a:off x="638175" y="2772660"/>
              <a:ext cx="3203376" cy="289947"/>
            </a:xfrm>
            <a:prstGeom prst="roundRect">
              <a:avLst/>
            </a:prstGeom>
            <a:solidFill>
              <a:schemeClr val="tx1">
                <a:lumMod val="95000"/>
                <a:lumOff val="5000"/>
              </a:schemeClr>
            </a:solidFill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200" b="1" dirty="0">
                  <a:latin typeface="Inter"/>
                </a:rPr>
                <a:t>   DETAILS PROJECT</a:t>
              </a:r>
              <a:endParaRPr lang="en-ID" sz="1200" b="1" dirty="0">
                <a:latin typeface="Inter"/>
              </a:endParaRPr>
            </a:p>
          </p:txBody>
        </p:sp>
        <p:pic>
          <p:nvPicPr>
            <p:cNvPr id="92" name="Picture 91" descr="image.png">
              <a:extLst>
                <a:ext uri="{FF2B5EF4-FFF2-40B4-BE49-F238E27FC236}">
                  <a16:creationId xmlns:a16="http://schemas.microsoft.com/office/drawing/2014/main" id="{BA8B367D-96B3-5AFA-924B-C26587C7C28F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688429" y="2849416"/>
              <a:ext cx="128587" cy="123825"/>
            </a:xfrm>
            <a:prstGeom prst="rect">
              <a:avLst/>
            </a:prstGeom>
          </p:spPr>
        </p:pic>
      </p:grpSp>
      <p:sp>
        <p:nvSpPr>
          <p:cNvPr id="95" name="Rectangle: Rounded Corners 94">
            <a:extLst>
              <a:ext uri="{FF2B5EF4-FFF2-40B4-BE49-F238E27FC236}">
                <a16:creationId xmlns:a16="http://schemas.microsoft.com/office/drawing/2014/main" id="{006AB9DB-5B9E-29D0-E749-2D29D10A5E6D}"/>
              </a:ext>
            </a:extLst>
          </p:cNvPr>
          <p:cNvSpPr/>
          <p:nvPr/>
        </p:nvSpPr>
        <p:spPr>
          <a:xfrm>
            <a:off x="640779" y="4100188"/>
            <a:ext cx="2554858" cy="252875"/>
          </a:xfrm>
          <a:prstGeom prst="roundRect">
            <a:avLst/>
          </a:prstGeom>
          <a:solidFill>
            <a:schemeClr val="tx2">
              <a:lumMod val="60000"/>
              <a:lumOff val="40000"/>
            </a:schemeClr>
          </a:solidFill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b="1" dirty="0">
                <a:latin typeface="Inter"/>
              </a:rPr>
              <a:t>   PROJECT BENEFITS &amp; KEYS IMPACTS</a:t>
            </a:r>
            <a:endParaRPr lang="en-ID" sz="1100" b="1" dirty="0">
              <a:latin typeface="Inter"/>
            </a:endParaRPr>
          </a:p>
        </p:txBody>
      </p:sp>
      <p:pic>
        <p:nvPicPr>
          <p:cNvPr id="97" name="Picture 96" descr="image.png">
            <a:extLst>
              <a:ext uri="{FF2B5EF4-FFF2-40B4-BE49-F238E27FC236}">
                <a16:creationId xmlns:a16="http://schemas.microsoft.com/office/drawing/2014/main" id="{A51F3F57-6521-EF92-0F70-D6E51A3565B5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92239" y="4507486"/>
            <a:ext cx="90487" cy="114300"/>
          </a:xfrm>
          <a:prstGeom prst="rect">
            <a:avLst/>
          </a:prstGeom>
        </p:spPr>
      </p:pic>
      <p:grpSp>
        <p:nvGrpSpPr>
          <p:cNvPr id="100" name="Group 99">
            <a:extLst>
              <a:ext uri="{FF2B5EF4-FFF2-40B4-BE49-F238E27FC236}">
                <a16:creationId xmlns:a16="http://schemas.microsoft.com/office/drawing/2014/main" id="{7A95E9A5-0724-07CE-7B44-0902910B64F7}"/>
              </a:ext>
            </a:extLst>
          </p:cNvPr>
          <p:cNvGrpSpPr/>
          <p:nvPr/>
        </p:nvGrpSpPr>
        <p:grpSpPr>
          <a:xfrm>
            <a:off x="4851201" y="1621347"/>
            <a:ext cx="657226" cy="197749"/>
            <a:chOff x="5525476" y="1635070"/>
            <a:chExt cx="722775" cy="174040"/>
          </a:xfrm>
        </p:grpSpPr>
        <p:sp>
          <p:nvSpPr>
            <p:cNvPr id="98" name="Rectangle: Rounded Corners 97">
              <a:extLst>
                <a:ext uri="{FF2B5EF4-FFF2-40B4-BE49-F238E27FC236}">
                  <a16:creationId xmlns:a16="http://schemas.microsoft.com/office/drawing/2014/main" id="{A1F10DFE-4AD8-CB48-392A-DA4C67FD342E}"/>
                </a:ext>
              </a:extLst>
            </p:cNvPr>
            <p:cNvSpPr/>
            <p:nvPr/>
          </p:nvSpPr>
          <p:spPr>
            <a:xfrm>
              <a:off x="5525476" y="1635070"/>
              <a:ext cx="722775" cy="174040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2">
                  <a:lumMod val="20000"/>
                  <a:lumOff val="80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00" b="1" dirty="0">
                  <a:solidFill>
                    <a:srgbClr val="FF0000"/>
                  </a:solidFill>
                  <a:latin typeface="Inter"/>
                </a:rPr>
                <a:t> BEFORE</a:t>
              </a:r>
              <a:endParaRPr lang="en-ID" sz="1000" b="1" dirty="0">
                <a:solidFill>
                  <a:srgbClr val="FF0000"/>
                </a:solidFill>
                <a:latin typeface="Inter"/>
              </a:endParaRPr>
            </a:p>
          </p:txBody>
        </p:sp>
        <p:pic>
          <p:nvPicPr>
            <p:cNvPr id="99" name="Picture 98" descr="image.png">
              <a:extLst>
                <a:ext uri="{FF2B5EF4-FFF2-40B4-BE49-F238E27FC236}">
                  <a16:creationId xmlns:a16="http://schemas.microsoft.com/office/drawing/2014/main" id="{722462F2-CF60-D8F6-3C7B-4A1094D6C25E}"/>
                </a:ext>
              </a:extLst>
            </p:cNvPr>
            <p:cNvPicPr>
              <a:picLocks noChangeAspect="1"/>
            </p:cNvPicPr>
            <p:nvPr/>
          </p:nvPicPr>
          <p:blipFill>
            <a:blip r:embed="rId27"/>
            <a:stretch>
              <a:fillRect/>
            </a:stretch>
          </p:blipFill>
          <p:spPr>
            <a:xfrm>
              <a:off x="5558785" y="1679333"/>
              <a:ext cx="76200" cy="104775"/>
            </a:xfrm>
            <a:prstGeom prst="rect">
              <a:avLst/>
            </a:prstGeom>
          </p:spPr>
        </p:pic>
      </p:grp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A0C854A0-847C-6D1F-E76F-81125251F685}"/>
              </a:ext>
            </a:extLst>
          </p:cNvPr>
          <p:cNvGrpSpPr/>
          <p:nvPr/>
        </p:nvGrpSpPr>
        <p:grpSpPr>
          <a:xfrm>
            <a:off x="6700178" y="1632028"/>
            <a:ext cx="657226" cy="197749"/>
            <a:chOff x="5003601" y="1773747"/>
            <a:chExt cx="657226" cy="197749"/>
          </a:xfrm>
        </p:grpSpPr>
        <p:sp>
          <p:nvSpPr>
            <p:cNvPr id="102" name="Rectangle: Rounded Corners 101">
              <a:extLst>
                <a:ext uri="{FF2B5EF4-FFF2-40B4-BE49-F238E27FC236}">
                  <a16:creationId xmlns:a16="http://schemas.microsoft.com/office/drawing/2014/main" id="{EC2CE769-7D08-66C4-FD39-25C5B6D37DFB}"/>
                </a:ext>
              </a:extLst>
            </p:cNvPr>
            <p:cNvSpPr/>
            <p:nvPr/>
          </p:nvSpPr>
          <p:spPr>
            <a:xfrm>
              <a:off x="5003601" y="1773747"/>
              <a:ext cx="657226" cy="197749"/>
            </a:xfrm>
            <a:prstGeom prst="round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solidFill>
                <a:schemeClr val="accent2">
                  <a:lumMod val="20000"/>
                  <a:lumOff val="80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00" b="1" dirty="0">
                  <a:solidFill>
                    <a:srgbClr val="FF0000"/>
                  </a:solidFill>
                  <a:latin typeface="Inter"/>
                </a:rPr>
                <a:t> </a:t>
              </a:r>
              <a:r>
                <a:rPr lang="en-US" sz="1000" b="1" dirty="0">
                  <a:solidFill>
                    <a:srgbClr val="00B050"/>
                  </a:solidFill>
                  <a:latin typeface="Inter"/>
                </a:rPr>
                <a:t>AFTER</a:t>
              </a:r>
              <a:endParaRPr lang="en-ID" sz="1000" b="1" dirty="0">
                <a:solidFill>
                  <a:srgbClr val="00B050"/>
                </a:solidFill>
                <a:latin typeface="Inter"/>
              </a:endParaRPr>
            </a:p>
          </p:txBody>
        </p:sp>
        <p:pic>
          <p:nvPicPr>
            <p:cNvPr id="104" name="Picture 103" descr="image.png">
              <a:extLst>
                <a:ext uri="{FF2B5EF4-FFF2-40B4-BE49-F238E27FC236}">
                  <a16:creationId xmlns:a16="http://schemas.microsoft.com/office/drawing/2014/main" id="{90302A0F-0F6D-6364-5825-F8DC301C4AAC}"/>
                </a:ext>
              </a:extLst>
            </p:cNvPr>
            <p:cNvPicPr>
              <a:picLocks noChangeAspect="1"/>
            </p:cNvPicPr>
            <p:nvPr/>
          </p:nvPicPr>
          <p:blipFill>
            <a:blip r:embed="rId28"/>
            <a:stretch>
              <a:fillRect/>
            </a:stretch>
          </p:blipFill>
          <p:spPr>
            <a:xfrm>
              <a:off x="5059789" y="1826318"/>
              <a:ext cx="95250" cy="104775"/>
            </a:xfrm>
            <a:prstGeom prst="rect">
              <a:avLst/>
            </a:prstGeom>
          </p:spPr>
        </p:pic>
      </p:grpSp>
      <p:grpSp>
        <p:nvGrpSpPr>
          <p:cNvPr id="113" name="Group 112">
            <a:extLst>
              <a:ext uri="{FF2B5EF4-FFF2-40B4-BE49-F238E27FC236}">
                <a16:creationId xmlns:a16="http://schemas.microsoft.com/office/drawing/2014/main" id="{06194EC0-E3BD-7C6D-AC75-42B2B99135F0}"/>
              </a:ext>
            </a:extLst>
          </p:cNvPr>
          <p:cNvGrpSpPr/>
          <p:nvPr/>
        </p:nvGrpSpPr>
        <p:grpSpPr>
          <a:xfrm>
            <a:off x="8347189" y="3290084"/>
            <a:ext cx="3169701" cy="478191"/>
            <a:chOff x="5152173" y="3181889"/>
            <a:chExt cx="3169701" cy="509644"/>
          </a:xfrm>
        </p:grpSpPr>
        <p:sp>
          <p:nvSpPr>
            <p:cNvPr id="106" name="Rectangle: Rounded Corners 105">
              <a:extLst>
                <a:ext uri="{FF2B5EF4-FFF2-40B4-BE49-F238E27FC236}">
                  <a16:creationId xmlns:a16="http://schemas.microsoft.com/office/drawing/2014/main" id="{9AB0B598-5582-7FA8-F0B4-3E93C3FB1105}"/>
                </a:ext>
              </a:extLst>
            </p:cNvPr>
            <p:cNvSpPr/>
            <p:nvPr/>
          </p:nvSpPr>
          <p:spPr>
            <a:xfrm>
              <a:off x="5152173" y="3181889"/>
              <a:ext cx="3169701" cy="509644"/>
            </a:xfrm>
            <a:prstGeom prst="roundRect">
              <a:avLst/>
            </a:prstGeom>
            <a:solidFill>
              <a:schemeClr val="accent5">
                <a:lumMod val="75000"/>
              </a:schemeClr>
            </a:solidFill>
            <a:ln>
              <a:solidFill>
                <a:schemeClr val="accent5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 dirty="0"/>
            </a:p>
          </p:txBody>
        </p:sp>
        <p:grpSp>
          <p:nvGrpSpPr>
            <p:cNvPr id="112" name="Group 111">
              <a:extLst>
                <a:ext uri="{FF2B5EF4-FFF2-40B4-BE49-F238E27FC236}">
                  <a16:creationId xmlns:a16="http://schemas.microsoft.com/office/drawing/2014/main" id="{AAC6D4C5-E981-80F7-A9D0-4CBDF738886E}"/>
                </a:ext>
              </a:extLst>
            </p:cNvPr>
            <p:cNvGrpSpPr/>
            <p:nvPr/>
          </p:nvGrpSpPr>
          <p:grpSpPr>
            <a:xfrm>
              <a:off x="6076195" y="3222298"/>
              <a:ext cx="1761635" cy="409019"/>
              <a:chOff x="6237181" y="3196542"/>
              <a:chExt cx="1761635" cy="409019"/>
            </a:xfrm>
          </p:grpSpPr>
          <p:sp>
            <p:nvSpPr>
              <p:cNvPr id="107" name="TextBox 106">
                <a:extLst>
                  <a:ext uri="{FF2B5EF4-FFF2-40B4-BE49-F238E27FC236}">
                    <a16:creationId xmlns:a16="http://schemas.microsoft.com/office/drawing/2014/main" id="{3D2F3E64-B1BA-7C22-CEC4-909DFBB1DA51}"/>
                  </a:ext>
                </a:extLst>
              </p:cNvPr>
              <p:cNvSpPr txBox="1"/>
              <p:nvPr/>
            </p:nvSpPr>
            <p:spPr>
              <a:xfrm>
                <a:off x="6436116" y="3196542"/>
                <a:ext cx="921288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900" b="1" dirty="0">
                    <a:solidFill>
                      <a:schemeClr val="bg1">
                        <a:lumMod val="85000"/>
                      </a:schemeClr>
                    </a:solidFill>
                  </a:rPr>
                  <a:t>PLACE / SCOPE</a:t>
                </a:r>
                <a:endParaRPr lang="en-ID" sz="900" b="1" dirty="0">
                  <a:solidFill>
                    <a:schemeClr val="bg1">
                      <a:lumMod val="85000"/>
                    </a:schemeClr>
                  </a:solidFill>
                </a:endParaRPr>
              </a:p>
            </p:txBody>
          </p:sp>
          <p:pic>
            <p:nvPicPr>
              <p:cNvPr id="109" name="Picture 108" descr="image.png">
                <a:extLst>
                  <a:ext uri="{FF2B5EF4-FFF2-40B4-BE49-F238E27FC236}">
                    <a16:creationId xmlns:a16="http://schemas.microsoft.com/office/drawing/2014/main" id="{8E2F9009-9378-A9BA-169E-D42EC50D7CE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6429638" y="3268905"/>
                <a:ext cx="61912" cy="95250"/>
              </a:xfrm>
              <a:prstGeom prst="rect">
                <a:avLst/>
              </a:prstGeom>
            </p:spPr>
          </p:pic>
          <p:sp>
            <p:nvSpPr>
              <p:cNvPr id="110" name="TextBox 109">
                <a:extLst>
                  <a:ext uri="{FF2B5EF4-FFF2-40B4-BE49-F238E27FC236}">
                    <a16:creationId xmlns:a16="http://schemas.microsoft.com/office/drawing/2014/main" id="{7AF423A7-B4C4-64AC-0835-860E9153C57C}"/>
                  </a:ext>
                </a:extLst>
              </p:cNvPr>
              <p:cNvSpPr txBox="1"/>
              <p:nvPr/>
            </p:nvSpPr>
            <p:spPr>
              <a:xfrm>
                <a:off x="6237181" y="3374729"/>
                <a:ext cx="1761635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900" dirty="0">
                    <a:solidFill>
                      <a:schemeClr val="bg1"/>
                    </a:solidFill>
                  </a:rPr>
                  <a:t>ADMIN, </a:t>
                </a:r>
                <a:r>
                  <a:rPr lang="en-US" sz="900" dirty="0" err="1">
                    <a:solidFill>
                      <a:schemeClr val="bg1"/>
                    </a:solidFill>
                  </a:rPr>
                  <a:t>IWw</a:t>
                </a:r>
                <a:r>
                  <a:rPr lang="en-US" sz="900" dirty="0">
                    <a:solidFill>
                      <a:schemeClr val="bg1"/>
                    </a:solidFill>
                  </a:rPr>
                  <a:t>, </a:t>
                </a:r>
                <a:r>
                  <a:rPr lang="en-US" sz="900" dirty="0" err="1">
                    <a:solidFill>
                      <a:schemeClr val="bg1"/>
                    </a:solidFill>
                  </a:rPr>
                  <a:t>Iwe</a:t>
                </a:r>
                <a:r>
                  <a:rPr lang="en-US" sz="900" dirty="0">
                    <a:solidFill>
                      <a:schemeClr val="bg1"/>
                    </a:solidFill>
                  </a:rPr>
                  <a:t> &amp; </a:t>
                </a:r>
                <a:r>
                  <a:rPr lang="en-US" sz="900" dirty="0" err="1">
                    <a:solidFill>
                      <a:schemeClr val="bg1"/>
                    </a:solidFill>
                  </a:rPr>
                  <a:t>IWn</a:t>
                </a:r>
                <a:endParaRPr lang="en-ID" sz="900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72EF1D83-0755-7311-C015-A79CFF587668}"/>
              </a:ext>
            </a:extLst>
          </p:cNvPr>
          <p:cNvSpPr txBox="1"/>
          <p:nvPr/>
        </p:nvSpPr>
        <p:spPr>
          <a:xfrm>
            <a:off x="8521749" y="2836952"/>
            <a:ext cx="3032075" cy="2997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ts val="1214"/>
              </a:lnSpc>
            </a:pPr>
            <a:r>
              <a:rPr lang="en-ID" sz="900" b="1" dirty="0"/>
              <a:t>Dashboard Reporting &amp; Analytics:</a:t>
            </a:r>
            <a:r>
              <a:rPr lang="en-ID" sz="900" dirty="0"/>
              <a:t> </a:t>
            </a:r>
            <a:r>
              <a:rPr lang="en-ID" sz="900" dirty="0" err="1"/>
              <a:t>Visualisasi</a:t>
            </a:r>
            <a:r>
              <a:rPr lang="en-ID" sz="900" dirty="0"/>
              <a:t> </a:t>
            </a:r>
            <a:r>
              <a:rPr lang="en-ID" sz="900" i="1" dirty="0"/>
              <a:t>real-time</a:t>
            </a:r>
            <a:r>
              <a:rPr lang="en-ID" sz="900" dirty="0"/>
              <a:t> </a:t>
            </a:r>
            <a:r>
              <a:rPr lang="en-ID" sz="900" dirty="0" err="1"/>
              <a:t>untuk</a:t>
            </a:r>
            <a:r>
              <a:rPr lang="en-ID" sz="900" dirty="0"/>
              <a:t> </a:t>
            </a:r>
            <a:r>
              <a:rPr lang="en-ID" sz="900" dirty="0" err="1"/>
              <a:t>memantau</a:t>
            </a:r>
            <a:r>
              <a:rPr lang="en-ID" sz="900" dirty="0"/>
              <a:t> </a:t>
            </a:r>
            <a:r>
              <a:rPr lang="en-ID" sz="900" dirty="0" err="1"/>
              <a:t>performa</a:t>
            </a:r>
            <a:r>
              <a:rPr lang="en-ID" sz="900" dirty="0"/>
              <a:t> </a:t>
            </a:r>
            <a:r>
              <a:rPr lang="en-ID" sz="900" i="1" dirty="0"/>
              <a:t>helpdesk</a:t>
            </a:r>
            <a:r>
              <a:rPr lang="en-ID" sz="900" dirty="0"/>
              <a:t>, </a:t>
            </a:r>
            <a:r>
              <a:rPr lang="en-ID" sz="900" dirty="0" err="1"/>
              <a:t>tren</a:t>
            </a:r>
            <a:r>
              <a:rPr lang="en-ID" sz="900" dirty="0"/>
              <a:t> </a:t>
            </a:r>
            <a:r>
              <a:rPr lang="en-ID" sz="900" dirty="0" err="1"/>
              <a:t>masalah</a:t>
            </a:r>
            <a:r>
              <a:rPr lang="en-ID" sz="900" dirty="0"/>
              <a:t>, dan status </a:t>
            </a:r>
            <a:r>
              <a:rPr lang="en-ID" sz="900" dirty="0" err="1"/>
              <a:t>tiket</a:t>
            </a:r>
            <a:r>
              <a:rPr lang="en-ID" sz="900" dirty="0"/>
              <a:t>.</a:t>
            </a:r>
            <a:endParaRPr sz="900" b="0" i="0" u="none" dirty="0">
              <a:solidFill>
                <a:srgbClr val="334155"/>
              </a:solidFill>
              <a:latin typeface="Inter"/>
            </a:endParaRPr>
          </a:p>
        </p:txBody>
      </p:sp>
      <p:pic>
        <p:nvPicPr>
          <p:cNvPr id="10" name="Picture 9" descr="image.png">
            <a:extLst>
              <a:ext uri="{FF2B5EF4-FFF2-40B4-BE49-F238E27FC236}">
                <a16:creationId xmlns:a16="http://schemas.microsoft.com/office/drawing/2014/main" id="{F40391C8-5B57-2E6A-E193-597E98AA02B9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8348432" y="2862441"/>
            <a:ext cx="57150" cy="8572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275</TotalTime>
  <Words>316</Words>
  <Application>Microsoft Office PowerPoint</Application>
  <PresentationFormat>Widescreen</PresentationFormat>
  <Paragraphs>43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9" baseType="lpstr">
      <vt:lpstr>Arial</vt:lpstr>
      <vt:lpstr>Calibri</vt:lpstr>
      <vt:lpstr>Inter</vt:lpstr>
      <vt:lpstr>Inter Medium</vt:lpstr>
      <vt:lpstr>Inter SemiBold</vt:lpstr>
      <vt:lpstr>Poppins</vt:lpstr>
      <vt:lpstr>Office Theme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Taufan Wisnu</dc:creator>
  <cp:keywords/>
  <dc:description>generated using python-pptx</dc:description>
  <cp:lastModifiedBy>Taufan Wisnu</cp:lastModifiedBy>
  <cp:revision>7</cp:revision>
  <dcterms:created xsi:type="dcterms:W3CDTF">2013-01-27T09:14:16Z</dcterms:created>
  <dcterms:modified xsi:type="dcterms:W3CDTF">2026-09-16T00:17:35Z</dcterms:modified>
  <cp:category/>
</cp:coreProperties>
</file>